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6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14" roundtripDataSignature="AMtx7mhVgqDUejHKW5zsxwP4L1eNF/yxN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8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customschemas.google.com/relationships/presentationmetadata" Target="metadata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Title</a:t>
            </a:r>
          </a:p>
          <a:p/>
          <a:p>
            <a:r>
              <a:t>Welcome. Matt and Joe introduce the talk. Helm 3 carried the ecosystem for six years. The purpose today is to explain what Helm 4 changes, why the upgrade path is manageable, and where contributors can help shape the future.</a:t>
            </a:r>
          </a:p>
          <a:p/>
          <a:p>
            <a:r>
              <a:t>Sources:</a:t>
            </a:r>
          </a:p>
          <a:p>
            <a:r>
              <a:t>- https://kubecon-cloudnativecon-north-america-2026.sessionize.com/session/1289638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Who we are</a:t>
            </a:r>
          </a:p>
          <a:p/>
          <a:p>
            <a:r>
              <a:t>Briefly introduce yourselves and your relationship to Helm. The audience should understand that this is a maintainer perspective grounded in the project and its wider community.</a:t>
            </a:r>
          </a:p>
          <a:p/>
          <a:p>
            <a:r>
              <a:t>Sources:</a:t>
            </a:r>
          </a:p>
          <a:p>
            <a:r>
              <a:t>- https://kubecon-cloudnativecon-north-america-2026.sessionize.com/session/1289638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What are we breaking up with?</a:t>
            </a:r>
          </a:p>
          <a:p/>
          <a:p>
            <a:r>
              <a:t>Move from the title into the reason for a major release. The target is architectural constraints, while keeping existing charts and releases viable.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What Helm still is</a:t>
            </a:r>
          </a:p>
          <a:p/>
          <a:p>
            <a:r>
              <a:t>Start with the durable job of Helm: it is the package manager for Kubernetes. A chart is a versioned package of Kubernetes resource definitions. Helm installs a chart to create a release, and it manages that release through upgrades and rollback. A chart can create more than one separately tracked release. Helm 4 changes parts of the implementation and some integrations, but this core model remains recognizable.</a:t>
            </a:r>
          </a:p>
          <a:p/>
          <a:p>
            <a:r>
              <a:t>Sources:</a:t>
            </a:r>
          </a:p>
          <a:p>
            <a:r>
              <a:t>- https://helm.sh/docs/intro/introduction/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Developers rate Helm as mature</a:t>
            </a:r>
          </a:p>
          <a:p/>
          <a:p>
            <a:r>
              <a:t>Helm 3 was released in November 2019. In the CNCF Q1 2026 Technology Radar, 94% of surveyed developers familiar with Helm rated its maturity 4 or 5 stars, the strongest maturity result among application delivery tools. The report defines maturity in terms of stability and reliability. This is a perception survey about Helm overall, not an uptime measurement or a Helm 3-only result. The broad installed base and integrations made compatibility important as Helm 4 was designed.</a:t>
            </a:r>
          </a:p>
          <a:p/>
          <a:p>
            <a:r>
              <a:t>Sources:</a:t>
            </a:r>
          </a:p>
          <a:p>
            <a:r>
              <a:t>- https://www.cncf.io/wp-content/uploads/2026/03/Q1-2026-CNCF-Technology-Radar-Report.pdf</a:t>
            </a:r>
          </a:p>
          <a:p>
            <a:r>
              <a:t>- https://helm.sh/blog/the-road-to-helm-4/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cost of that compatibility promise</a:t>
            </a:r>
          </a:p>
          <a:p/>
          <a:p>
            <a:r>
              <a:t>Helm 3 accumulated technical debt and architectural limits. The project could continue adding compatible features, but some improvements required changes to public SDK APIs and package structure. A major version provided a clear boundary for those changes. The point is not to fault Helm 3; its compatibility rules did their job for a very broad user base.</a:t>
            </a:r>
          </a:p>
          <a:p/>
          <a:p>
            <a:r>
              <a:t>Sources:</a:t>
            </a:r>
          </a:p>
          <a:p>
            <a:r>
              <a:t>- https://helm.sh/blog/helm-v3-end-of-life/</a:t>
            </a:r>
          </a:p>
          <a:p>
            <a:r>
              <a:t>- https://helm.sh/docs/overview/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Most of your investment stays</a:t>
            </a:r>
          </a:p>
          <a:p/>
          <a:p>
            <a:r>
              <a:t>Most teams can adopt Helm 4 without a chart rewrite or release migration. Existing Helm 3 charts should deploy with Helm 4, and existing Helm 3 releases can generally be upgraded by Helm 4. State the qualification: test your actual workflows, because plugins, post-renderers, authentication, and SDK consumers may need attention.</a:t>
            </a:r>
          </a:p>
          <a:p/>
          <a:p>
            <a:r>
              <a:t>Sources:</a:t>
            </a:r>
          </a:p>
          <a:p>
            <a:r>
              <a:t>- https://helm.sh/blog/helm-v3-end-of-life/</a:t>
            </a:r>
          </a:p>
          <a:p>
            <a:r>
              <a:t>- https://helm.sh/docs/overview/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Helm 3 support clock</a:t>
            </a:r>
          </a:p>
          <a:p/>
          <a:p>
            <a:r>
              <a:t>The timeline changed after the original Helm 4 announcement. Helm 4.0 shipped in November 2025. Helm 3 had a final limited minor on September 9, 2026. Security fixes end on February 10, 2027. After that, no Helm 3 security patches or Kubernetes client updates are expected. Encourage the audience to use the support window deliberately.</a:t>
            </a:r>
          </a:p>
          <a:p/>
          <a:p>
            <a:r>
              <a:t>Sources:</a:t>
            </a:r>
          </a:p>
          <a:p>
            <a:r>
              <a:t>- https://helm.sh/blog/helm-v3-end-of-life/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What changed in Helm 4?</a:t>
            </a:r>
          </a:p>
          <a:p/>
          <a:p>
            <a:r>
              <a:t>Transition from motivation into the capabilities available today.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Four foundations for the next chapter</a:t>
            </a:r>
          </a:p>
          <a:p/>
          <a:p>
            <a:r>
              <a:t>Preview the next section. Extensibility, operations, distribution, and internal architecture are the four themes. The examples on the next slides are representative changes, not an exhaustive changelog.</a:t>
            </a:r>
          </a:p>
          <a:p/>
          <a:p>
            <a:r>
              <a:t>Sources:</a:t>
            </a:r>
          </a:p>
          <a:p>
            <a:r>
              <a:t>- https://helm.sh/docs/overview/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Plugins have a clearer shape</a:t>
            </a:r>
          </a:p>
          <a:p/>
          <a:p>
            <a:r>
              <a:t>Helm 4 has three explicit plugin types: CLI, getter, and post-renderer. The redesigned system allows future extension types, and an optional WebAssembly runtime provides a more controlled execution environment. Existing Helm 3 plugins continue to work. Plugin maintainers can adopt the versioned plugin schema over time.</a:t>
            </a:r>
          </a:p>
          <a:p/>
          <a:p>
            <a:r>
              <a:t>Sources:</a:t>
            </a:r>
          </a:p>
          <a:p>
            <a:r>
              <a:t>- https://helm.sh/docs/overview/</a:t>
            </a:r>
          </a:p>
          <a:p>
            <a:r>
              <a:t>- https://helm.sh/docs/plugins/overview/</a:t>
            </a:r>
          </a:p>
          <a:p>
            <a:r>
              <a:t>- https://helm.sh/docs/plugins/migrate/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few integrations do change</a:t>
            </a:r>
          </a:p>
          <a:p/>
          <a:p>
            <a:r>
              <a:t>In Helm 3, --post-renderer accepts an executable path. In Helm 4 it accepts a plugin name. Workflows that pass a path need to package that executable as a postrenderer/v1 plugin and invoke the name. Also, helm registry login now accepts a domain name only, not a full URL. Ask the audience to search their CI and deployment scripts for both.</a:t>
            </a:r>
          </a:p>
          <a:p/>
          <a:p>
            <a:r>
              <a:t>Sources:</a:t>
            </a:r>
          </a:p>
          <a:p>
            <a:r>
              <a:t>- https://helm.sh/docs/overview/</a:t>
            </a:r>
          </a:p>
          <a:p>
            <a:r>
              <a:t>- https://helm.sh/docs/plugins/migrate/</a:t>
            </a:r>
          </a:p>
          <a:p>
            <a:r>
              <a:t>- https://helm.sh/blog/helm-v3-end-of-life/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Apply behavior remembers the release</a:t>
            </a:r>
          </a:p>
          <a:p/>
          <a:p>
            <a:r>
              <a:t>New Helm 4 installs use server-side apply by default. When Helm 4 upgrades or rolls back an existing Helm 3 release, it keeps that release on client-side apply by default. This latching behavior reduces surprises during a migration. Teams can override explicitly with --server-side. Test workloads where controllers and other tools touch the same Kubernetes objects.</a:t>
            </a:r>
          </a:p>
          <a:p/>
          <a:p>
            <a:r>
              <a:t>Sources:</a:t>
            </a:r>
          </a:p>
          <a:p>
            <a:r>
              <a:t>- https://helm.sh/docs/overview/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Better signals while you wait</a:t>
            </a:r>
          </a:p>
          <a:p/>
          <a:p>
            <a:r>
              <a:t>Helm 4 integrates kstatus for resource watching. The goal is more informative waiting and deployment status for complex applications. Invite users to test multi-resource workloads and report cases where the status is inaccurate or hard to interpret.</a:t>
            </a:r>
          </a:p>
          <a:p/>
          <a:p>
            <a:r>
              <a:t>Sources:</a:t>
            </a:r>
          </a:p>
          <a:p>
            <a:r>
              <a:t>- https://helm.sh/docs/overview/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Pin the chart you meant to install</a:t>
            </a:r>
          </a:p>
          <a:p/>
          <a:p>
            <a:r>
              <a:t>Helm 4 supports installing OCI charts by digest. That lets a deployment request an exact artifact and reject a mismatch. The release also adds content-based chart caching and reproducible archive builds. These are useful supply-chain building blocks, though they do not alone solve every provenance or policy problem.</a:t>
            </a:r>
          </a:p>
          <a:p/>
          <a:p>
            <a:r>
              <a:t>Sources:</a:t>
            </a:r>
          </a:p>
          <a:p>
            <a:r>
              <a:t>- https://helm.sh/docs/overview/</a:t>
            </a:r>
          </a:p>
          <a:p>
            <a:r>
              <a:t>- https://helm.sh/blog/helm-4-released/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Small changes you will notice</a:t>
            </a:r>
          </a:p>
          <a:p/>
          <a:p>
            <a:r>
              <a:t>Multi-document values make it easier to organize configuration. Errors are clearer. Two common flags have clearer names: --atomic becomes --rollback-on-failure, and --force becomes --force-replace. The old names still work in Helm 4 but warn, so update scripts intentionally.</a:t>
            </a:r>
          </a:p>
          <a:p/>
          <a:p>
            <a:r>
              <a:t>Sources:</a:t>
            </a:r>
          </a:p>
          <a:p>
            <a:r>
              <a:t>- https://helm.sh/docs/overview/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foundation for the next chart format</a:t>
            </a:r>
          </a:p>
          <a:p/>
          <a:p>
            <a:r>
              <a:t>Helm 4 restructures its SDK APIs and supports multiple chart API versions. Charts v3 is early and experimental. Chart API v2 continues to work, so moving to Helm 4 does not mean migrating charts to v3. Developers can test the experiment and share what capabilities a future chart format should provide.</a:t>
            </a:r>
          </a:p>
          <a:p/>
          <a:p>
            <a:r>
              <a:t>Sources:</a:t>
            </a:r>
          </a:p>
          <a:p>
            <a:r>
              <a:t>- https://helm.sh/docs/overview/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How do we move forward?</a:t>
            </a:r>
          </a:p>
          <a:p/>
          <a:p>
            <a:r>
              <a:t>Transition into migration steps and community action.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Upgrade in five deliberate steps</a:t>
            </a:r>
          </a:p>
          <a:p/>
          <a:p>
            <a:r>
              <a:t>The Helm migration checklist is straightforward: test representative charts and existing releases; run the exact commands in CI and deployment automation; inspect plugins and especially path-based post-renderers; verify OCI authentication and installs; then roll out the Helm 4 binary. The best migration pilot uses a real application rather than a toy chart.</a:t>
            </a:r>
          </a:p>
          <a:p/>
          <a:p>
            <a:r>
              <a:t>Sources:</a:t>
            </a:r>
          </a:p>
          <a:p>
            <a:r>
              <a:t>- https://helm.sh/blog/helm-v3-end-of-life/</a:t>
            </a:r>
          </a:p>
          <a:p>
            <a:r>
              <a:t>- https://helm.sh/docs/overview/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Make the first upgrade boring</a:t>
            </a:r>
          </a:p>
          <a:p/>
          <a:p>
            <a:r>
              <a:t>A sample runbook: inventory releases; lint and render a representative chart; install a canary in a test namespace; inspect its status; then exercise an actual upgrade of a Helm 3 release. Test a controlled failure and rollback path as well. Commands on this slide are illustrative and assume a namespace and credentials already exist.</a:t>
            </a:r>
          </a:p>
          <a:p/>
          <a:p>
            <a:r>
              <a:t>Sources:</a:t>
            </a:r>
          </a:p>
          <a:p>
            <a:r>
              <a:t>- https://helm.sh/docs/overview/</a:t>
            </a:r>
          </a:p>
          <a:p>
            <a:r>
              <a:t>- https://helm.sh/blog/helm-v3-end-of-life/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There is a way in for you</a:t>
            </a:r>
          </a:p>
          <a:p/>
          <a:p>
            <a:r>
              <a:t>Invite specific participation: test a workflow and report findings, join #helm-dev or the public development meeting, and contribute to a project matching your strengths. Documentation, tests, and support matter alongside Go code. Point everyone to helm.sh/community for current meeting details.</a:t>
            </a:r>
          </a:p>
          <a:p/>
          <a:p>
            <a:r>
              <a:t>Sources:</a:t>
            </a:r>
          </a:p>
          <a:p>
            <a:r>
              <a:t>- https://helm.sh/community/</a:t>
            </a:r>
          </a:p>
          <a:p>
            <a:r>
              <a:t>- https://helm.sh/community/communication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future is with Helm 4</a:t>
            </a:r>
          </a:p>
          <a:p/>
          <a:p>
            <a:r>
              <a:t>Close on three takeaways. First, most charts and releases continue across the version boundary. Second, test the workflow around Helm, especially plugins, CI flags, and OCI authentication. Third, Helm 4 is a foundation and the community can shape what comes next. Invite questions. Aim to reserve five minutes for Q&amp;A; rehearsal will determine the actual running time.</a:t>
            </a:r>
          </a:p>
          <a:p/>
          <a:p>
            <a:r>
              <a:t>Sources:</a:t>
            </a:r>
          </a:p>
          <a:p>
            <a:r>
              <a:t>- https://helm.sh/blog/helm-v3-end-of-life/</a:t>
            </a:r>
          </a:p>
          <a:p>
            <a:r>
              <a:t>- https://helm.sh/docs/overview/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 and further reading</a:t>
            </a:r>
          </a:p>
          <a:p/>
          <a:p>
            <a:r>
              <a:t>Reference slide. Support timeline is based on the updated June 2026 announcement. Recheck release notes immediately before the event for any late changes.</a:t>
            </a:r>
          </a:p>
          <a:p/>
          <a:p>
            <a:r>
              <a:t>Sources:</a:t>
            </a:r>
          </a:p>
          <a:p>
            <a:r>
              <a:t>- https://helm.sh/docs/overview/</a:t>
            </a:r>
          </a:p>
          <a:p>
            <a:r>
              <a:t>- https://helm.sh/blog/helm-v3-end-of-life/</a:t>
            </a:r>
          </a:p>
          <a:p>
            <a:r>
              <a:t>- https://helm.sh/docs/plugins/migrate/</a:t>
            </a:r>
          </a:p>
          <a:p>
            <a:r>
              <a:t>- https://helm.sh/community/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12.png"/><Relationship Id="rId6" Type="http://schemas.openxmlformats.org/officeDocument/2006/relationships/image" Target="../media/image5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0"/>
          <p:cNvPicPr preferRelativeResize="0"/>
          <p:nvPr/>
        </p:nvPicPr>
        <p:blipFill rotWithShape="1">
          <a:blip r:embed="rId2">
            <a:alphaModFix/>
          </a:blip>
          <a:srcRect b="0" l="0" r="15741" t="0"/>
          <a:stretch/>
        </p:blipFill>
        <p:spPr>
          <a:xfrm>
            <a:off x="0" y="2252133"/>
            <a:ext cx="9144000" cy="289136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" name="Google Shape;11;p10"/>
          <p:cNvGrpSpPr/>
          <p:nvPr/>
        </p:nvGrpSpPr>
        <p:grpSpPr>
          <a:xfrm>
            <a:off x="177800" y="1278466"/>
            <a:ext cx="8966200" cy="2277534"/>
            <a:chOff x="177800" y="1278466"/>
            <a:chExt cx="8966200" cy="2277534"/>
          </a:xfrm>
        </p:grpSpPr>
        <p:sp>
          <p:nvSpPr>
            <p:cNvPr id="12" name="Google Shape;12;p10"/>
            <p:cNvSpPr/>
            <p:nvPr/>
          </p:nvSpPr>
          <p:spPr>
            <a:xfrm>
              <a:off x="177800" y="1701800"/>
              <a:ext cx="8966200" cy="1363133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10"/>
            <p:cNvSpPr/>
            <p:nvPr/>
          </p:nvSpPr>
          <p:spPr>
            <a:xfrm>
              <a:off x="6045200" y="1278466"/>
              <a:ext cx="2404533" cy="1978491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10"/>
            <p:cNvSpPr/>
            <p:nvPr/>
          </p:nvSpPr>
          <p:spPr>
            <a:xfrm>
              <a:off x="1642534" y="1278466"/>
              <a:ext cx="2404533" cy="2277534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" name="Google Shape;15;p10"/>
          <p:cNvSpPr txBox="1"/>
          <p:nvPr>
            <p:ph type="ctrTitle"/>
          </p:nvPr>
        </p:nvSpPr>
        <p:spPr>
          <a:xfrm>
            <a:off x="311215" y="1251446"/>
            <a:ext cx="8010201" cy="14551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b="1" i="0" sz="4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" name="Google Shape;16;p10"/>
          <p:cNvSpPr txBox="1"/>
          <p:nvPr>
            <p:ph idx="1" type="subTitle"/>
          </p:nvPr>
        </p:nvSpPr>
        <p:spPr>
          <a:xfrm>
            <a:off x="311214" y="2706624"/>
            <a:ext cx="8010201" cy="609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1" i="0" sz="28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10"/>
          <p:cNvSpPr txBox="1"/>
          <p:nvPr/>
        </p:nvSpPr>
        <p:spPr>
          <a:xfrm>
            <a:off x="5715812" y="178532"/>
            <a:ext cx="311125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#KubeCon #CloudNativeCon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" name="Google Shape;1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214" y="181507"/>
            <a:ext cx="2062800" cy="866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lt2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11"/>
          <p:cNvPicPr preferRelativeResize="0"/>
          <p:nvPr/>
        </p:nvPicPr>
        <p:blipFill rotWithShape="1">
          <a:blip r:embed="rId2">
            <a:alphaModFix/>
          </a:blip>
          <a:srcRect b="0" l="0" r="15741" t="0"/>
          <a:stretch/>
        </p:blipFill>
        <p:spPr>
          <a:xfrm>
            <a:off x="0" y="2252133"/>
            <a:ext cx="9144000" cy="289136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" name="Google Shape;21;p11"/>
          <p:cNvGrpSpPr/>
          <p:nvPr/>
        </p:nvGrpSpPr>
        <p:grpSpPr>
          <a:xfrm>
            <a:off x="177800" y="1278466"/>
            <a:ext cx="8966200" cy="2277534"/>
            <a:chOff x="177800" y="1278466"/>
            <a:chExt cx="8966200" cy="2277534"/>
          </a:xfrm>
        </p:grpSpPr>
        <p:sp>
          <p:nvSpPr>
            <p:cNvPr id="22" name="Google Shape;22;p11"/>
            <p:cNvSpPr/>
            <p:nvPr/>
          </p:nvSpPr>
          <p:spPr>
            <a:xfrm>
              <a:off x="177800" y="1701800"/>
              <a:ext cx="8966200" cy="1363133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11"/>
            <p:cNvSpPr/>
            <p:nvPr/>
          </p:nvSpPr>
          <p:spPr>
            <a:xfrm>
              <a:off x="6045200" y="1278466"/>
              <a:ext cx="2404533" cy="1978491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11"/>
            <p:cNvSpPr/>
            <p:nvPr/>
          </p:nvSpPr>
          <p:spPr>
            <a:xfrm>
              <a:off x="1642534" y="1278466"/>
              <a:ext cx="2404533" cy="2277534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" name="Google Shape;25;p11"/>
          <p:cNvSpPr txBox="1"/>
          <p:nvPr>
            <p:ph type="title"/>
          </p:nvPr>
        </p:nvSpPr>
        <p:spPr>
          <a:xfrm>
            <a:off x="311700" y="1940538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26" name="Google Shape;2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214" y="181507"/>
            <a:ext cx="2062800" cy="866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1_Section header">
    <p:bg>
      <p:bgPr>
        <a:solidFill>
          <a:schemeClr val="lt2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oogle Shape;28;p12"/>
          <p:cNvGrpSpPr/>
          <p:nvPr/>
        </p:nvGrpSpPr>
        <p:grpSpPr>
          <a:xfrm>
            <a:off x="0" y="4475862"/>
            <a:ext cx="9144000" cy="667638"/>
            <a:chOff x="2374014" y="4484308"/>
            <a:chExt cx="9028304" cy="659191"/>
          </a:xfrm>
        </p:grpSpPr>
        <p:pic>
          <p:nvPicPr>
            <p:cNvPr id="29" name="Google Shape;29;p12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6817945" y="4484308"/>
              <a:ext cx="4584373" cy="6591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" name="Google Shape;30;p12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2374014" y="4484308"/>
              <a:ext cx="4584373" cy="65919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1" name="Google Shape;3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41724" y="615950"/>
            <a:ext cx="2902276" cy="4527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12"/>
          <p:cNvPicPr preferRelativeResize="0"/>
          <p:nvPr/>
        </p:nvPicPr>
        <p:blipFill rotWithShape="1">
          <a:blip r:embed="rId4">
            <a:alphaModFix/>
          </a:blip>
          <a:srcRect b="23715" l="12113" r="0" t="0"/>
          <a:stretch/>
        </p:blipFill>
        <p:spPr>
          <a:xfrm>
            <a:off x="-1" y="4174681"/>
            <a:ext cx="2745769" cy="968819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12"/>
          <p:cNvPicPr preferRelativeResize="0"/>
          <p:nvPr/>
        </p:nvPicPr>
        <p:blipFill rotWithShape="1">
          <a:blip r:embed="rId5">
            <a:alphaModFix/>
          </a:blip>
          <a:srcRect b="1" l="0" r="0" t="6472"/>
          <a:stretch/>
        </p:blipFill>
        <p:spPr>
          <a:xfrm>
            <a:off x="4975012" y="0"/>
            <a:ext cx="1946881" cy="826052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12"/>
          <p:cNvSpPr txBox="1"/>
          <p:nvPr>
            <p:ph type="title"/>
          </p:nvPr>
        </p:nvSpPr>
        <p:spPr>
          <a:xfrm>
            <a:off x="311700" y="1940538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35" name="Google Shape;35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11214" y="181507"/>
            <a:ext cx="2062800" cy="866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1_Section header 2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oogle Shape;37;p13"/>
          <p:cNvGrpSpPr/>
          <p:nvPr/>
        </p:nvGrpSpPr>
        <p:grpSpPr>
          <a:xfrm>
            <a:off x="0" y="4475862"/>
            <a:ext cx="9144000" cy="667638"/>
            <a:chOff x="2374014" y="4484308"/>
            <a:chExt cx="9028304" cy="659191"/>
          </a:xfrm>
        </p:grpSpPr>
        <p:pic>
          <p:nvPicPr>
            <p:cNvPr id="38" name="Google Shape;38;p1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6817945" y="4484308"/>
              <a:ext cx="4584373" cy="6591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" name="Google Shape;39;p1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2374014" y="4484308"/>
              <a:ext cx="4584373" cy="65919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40" name="Google Shape;4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41724" y="615950"/>
            <a:ext cx="2902276" cy="452755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13"/>
          <p:cNvSpPr txBox="1"/>
          <p:nvPr>
            <p:ph type="ctrTitle"/>
          </p:nvPr>
        </p:nvSpPr>
        <p:spPr>
          <a:xfrm>
            <a:off x="398302" y="1373367"/>
            <a:ext cx="8010201" cy="20244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" name="Google Shape;42;p13"/>
          <p:cNvSpPr txBox="1"/>
          <p:nvPr>
            <p:ph idx="1" type="subTitle"/>
          </p:nvPr>
        </p:nvSpPr>
        <p:spPr>
          <a:xfrm>
            <a:off x="398301" y="3397805"/>
            <a:ext cx="8010201" cy="67017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1" sz="2800">
                <a:solidFill>
                  <a:schemeClr val="accent6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43" name="Google Shape;43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1214" y="181507"/>
            <a:ext cx="2062800" cy="866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lt1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00144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" name="Google Shape;46;p14"/>
          <p:cNvSpPr txBox="1"/>
          <p:nvPr>
            <p:ph idx="1" type="body"/>
          </p:nvPr>
        </p:nvSpPr>
        <p:spPr>
          <a:xfrm>
            <a:off x="311700" y="1152475"/>
            <a:ext cx="8520600" cy="3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200"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4"/>
          <p:cNvSpPr txBox="1"/>
          <p:nvPr>
            <p:ph idx="12" type="sldNum"/>
          </p:nvPr>
        </p:nvSpPr>
        <p:spPr>
          <a:xfrm>
            <a:off x="8283600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8" name="Google Shape;48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11700" y="4591416"/>
            <a:ext cx="1112400" cy="4675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1_Title and body">
    <p:bg>
      <p:bgPr>
        <a:solidFill>
          <a:schemeClr val="lt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5"/>
          <p:cNvSpPr/>
          <p:nvPr/>
        </p:nvSpPr>
        <p:spPr>
          <a:xfrm>
            <a:off x="7100" y="5625"/>
            <a:ext cx="9136900" cy="1047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15"/>
          <p:cNvSpPr txBox="1"/>
          <p:nvPr>
            <p:ph type="title"/>
          </p:nvPr>
        </p:nvSpPr>
        <p:spPr>
          <a:xfrm>
            <a:off x="311700" y="0"/>
            <a:ext cx="6949739" cy="104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5"/>
          <p:cNvSpPr txBox="1"/>
          <p:nvPr>
            <p:ph idx="1" type="body"/>
          </p:nvPr>
        </p:nvSpPr>
        <p:spPr>
          <a:xfrm>
            <a:off x="311700" y="1152475"/>
            <a:ext cx="8520600" cy="3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200"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3" name="Google Shape;53;p15"/>
          <p:cNvSpPr txBox="1"/>
          <p:nvPr>
            <p:ph idx="12" type="sldNum"/>
          </p:nvPr>
        </p:nvSpPr>
        <p:spPr>
          <a:xfrm>
            <a:off x="8283600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4" name="Google Shape;54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577624" y="253871"/>
            <a:ext cx="1285200" cy="5401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lt1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00144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" name="Google Shape;57;p16"/>
          <p:cNvSpPr txBox="1"/>
          <p:nvPr>
            <p:ph idx="1" type="body"/>
          </p:nvPr>
        </p:nvSpPr>
        <p:spPr>
          <a:xfrm>
            <a:off x="311700" y="1152475"/>
            <a:ext cx="3999900" cy="3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8" name="Google Shape;58;p16"/>
          <p:cNvSpPr txBox="1"/>
          <p:nvPr>
            <p:ph idx="2" type="body"/>
          </p:nvPr>
        </p:nvSpPr>
        <p:spPr>
          <a:xfrm>
            <a:off x="4832400" y="1152475"/>
            <a:ext cx="3999900" cy="3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9" name="Google Shape;59;p16"/>
          <p:cNvSpPr txBox="1"/>
          <p:nvPr>
            <p:ph idx="12" type="sldNum"/>
          </p:nvPr>
        </p:nvSpPr>
        <p:spPr>
          <a:xfrm>
            <a:off x="8283600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0" name="Google Shape;60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11700" y="4591416"/>
            <a:ext cx="1112400" cy="4675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00144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7"/>
          <p:cNvSpPr txBox="1"/>
          <p:nvPr>
            <p:ph idx="12" type="sldNum"/>
          </p:nvPr>
        </p:nvSpPr>
        <p:spPr>
          <a:xfrm>
            <a:off x="8283600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4" name="Google Shape;64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11700" y="4591416"/>
            <a:ext cx="1112400" cy="4675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2" type="sldNum"/>
          </p:nvPr>
        </p:nvSpPr>
        <p:spPr>
          <a:xfrm>
            <a:off x="8283600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89788" y="1124712"/>
            <a:ext cx="6309359" cy="1426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25" b="1">
                <a:solidFill>
                  <a:srgbClr val="FFFFFF"/>
                </a:solidFill>
                <a:latin typeface="Arial"/>
              </a:defRPr>
            </a:pPr>
            <a:r>
              <a:t>Breaking up Is Hard,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625" b="1">
                <a:solidFill>
                  <a:srgbClr val="FFFFFF"/>
                </a:solidFill>
                <a:latin typeface="Arial"/>
              </a:defRPr>
            </a:pPr>
            <a:r>
              <a:t>but the Future Is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625" b="1">
                <a:solidFill>
                  <a:srgbClr val="FFFFFF"/>
                </a:solidFill>
                <a:latin typeface="Arial"/>
              </a:defRPr>
            </a:pPr>
            <a:r>
              <a:t>with Helm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0362" y="2667762"/>
            <a:ext cx="5623559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75" b="0">
                <a:solidFill>
                  <a:srgbClr val="FFFFFF"/>
                </a:solidFill>
                <a:latin typeface="Arial"/>
              </a:defRPr>
            </a:pPr>
            <a:r>
              <a:t>Matt Farina  •  Joe Julian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93776" y="301752"/>
            <a:ext cx="8161020" cy="4526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50" b="0">
                <a:solidFill>
                  <a:srgbClr val="050843"/>
                </a:solidFill>
                <a:latin typeface="Arial"/>
              </a:defRPr>
            </a:pPr>
            <a:r>
              <a:t>Who we are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4752594"/>
            <a:ext cx="7269479" cy="10287"/>
          </a:xfrm>
          <a:prstGeom prst="rect">
            <a:avLst/>
          </a:prstGeom>
          <a:solidFill>
            <a:srgbClr val="DBE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26464" y="4793742"/>
            <a:ext cx="3429000" cy="2331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25" b="0">
                <a:solidFill>
                  <a:srgbClr val="596780"/>
                </a:solidFill>
                <a:latin typeface="Space Mono"/>
              </a:defRPr>
            </a:pPr>
            <a:r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43316" y="4793742"/>
            <a:ext cx="37719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25" b="0">
                <a:solidFill>
                  <a:srgbClr val="596780"/>
                </a:solidFill>
                <a:latin typeface="Space Mono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99032"/>
            <a:ext cx="3518154" cy="47320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25" b="1">
                <a:solidFill>
                  <a:srgbClr val="0F1689"/>
                </a:solidFill>
                <a:latin typeface="Arial"/>
              </a:defRPr>
            </a:pPr>
            <a:r>
              <a:t>Matt Farina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9516" y="1947672"/>
            <a:ext cx="34290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75" b="0">
                <a:solidFill>
                  <a:srgbClr val="596780"/>
                </a:solidFill>
                <a:latin typeface="Arial"/>
              </a:defRPr>
            </a:pPr>
            <a:r>
              <a:t>Helm maintainer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14316" y="1399032"/>
            <a:ext cx="3429000" cy="47320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25" b="1">
                <a:solidFill>
                  <a:srgbClr val="0F1689"/>
                </a:solidFill>
                <a:latin typeface="Arial"/>
              </a:defRPr>
            </a:pPr>
            <a:r>
              <a:t>Joe Julian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28032" y="1947672"/>
            <a:ext cx="34290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75" b="0">
                <a:solidFill>
                  <a:srgbClr val="596780"/>
                </a:solidFill>
                <a:latin typeface="Arial"/>
              </a:defRPr>
            </a:pPr>
            <a:r>
              <a:t>Helm maintainer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581144" y="1392174"/>
            <a:ext cx="0" cy="2407158"/>
          </a:xfrm>
          <a:prstGeom prst="line">
            <a:avLst/>
          </a:prstGeom>
          <a:ln w="19050">
            <a:solidFill>
              <a:srgbClr val="DBE1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06374" y="3826764"/>
            <a:ext cx="7667244" cy="4251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95297C"/>
                </a:solidFill>
                <a:latin typeface="Arial"/>
              </a:defRPr>
            </a:pPr>
            <a:r>
              <a:t>Helm is a community project. This is our view from inside 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2356" y="1227582"/>
            <a:ext cx="5280660" cy="2400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FFFFFF"/>
                </a:solidFill>
                <a:latin typeface="Space Mono"/>
              </a:defRPr>
            </a:pPr>
            <a:r>
              <a:t>PART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2356" y="1618488"/>
            <a:ext cx="5506973" cy="13030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FFFF"/>
                </a:solidFill>
                <a:latin typeface="Arial"/>
              </a:defRPr>
            </a:pPr>
            <a:r>
              <a:t>What are we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FFFF"/>
                </a:solidFill>
                <a:latin typeface="Arial"/>
              </a:defRPr>
            </a:pPr>
            <a:r>
              <a:t>breaking up with?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93776" y="301752"/>
            <a:ext cx="8161020" cy="4526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50" b="0">
                <a:solidFill>
                  <a:srgbClr val="050843"/>
                </a:solidFill>
                <a:latin typeface="Arial"/>
              </a:defRPr>
            </a:pPr>
            <a:r>
              <a:t>What Helm still is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4752594"/>
            <a:ext cx="7269479" cy="10287"/>
          </a:xfrm>
          <a:prstGeom prst="rect">
            <a:avLst/>
          </a:prstGeom>
          <a:solidFill>
            <a:srgbClr val="DBE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26464" y="4793742"/>
            <a:ext cx="3429000" cy="2331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25" b="0">
                <a:solidFill>
                  <a:srgbClr val="596780"/>
                </a:solidFill>
                <a:latin typeface="Space Mono"/>
              </a:defRPr>
            </a:pPr>
            <a:r>
              <a:t>THE FOUNDATION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43316" y="4793742"/>
            <a:ext cx="37719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25" b="0">
                <a:solidFill>
                  <a:srgbClr val="596780"/>
                </a:solidFill>
                <a:latin typeface="Space Mono"/>
              </a:defRPr>
            </a:pPr>
            <a: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1509" y="946403"/>
            <a:ext cx="7852409" cy="4320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75" b="1">
                <a:solidFill>
                  <a:srgbClr val="95297C"/>
                </a:solidFill>
                <a:latin typeface="Arial"/>
              </a:defRPr>
            </a:pPr>
            <a:r>
              <a:t>The package manager for Kubernetes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" y="1810512"/>
            <a:ext cx="23317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95297C"/>
                </a:solidFill>
                <a:latin typeface="Space Mono"/>
              </a:defRPr>
            </a:pPr>
            <a:r>
              <a:t>CHART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" y="2290572"/>
            <a:ext cx="2304288" cy="973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F1689"/>
                </a:solidFill>
                <a:latin typeface="Arial"/>
              </a:defRPr>
            </a:pPr>
            <a:r>
              <a:t>A versioned package of Kubernetes resources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0994" y="1810512"/>
            <a:ext cx="23317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95297C"/>
                </a:solidFill>
                <a:latin typeface="Space Mono"/>
              </a:defRPr>
            </a:pPr>
            <a:r>
              <a:t>HELM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0994" y="2290572"/>
            <a:ext cx="2304288" cy="973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F1689"/>
                </a:solidFill>
                <a:latin typeface="Arial"/>
              </a:defRPr>
            </a:pPr>
            <a:r>
              <a:t>Installs and upgrades applications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17336" y="1810512"/>
            <a:ext cx="23317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95297C"/>
                </a:solidFill>
                <a:latin typeface="Space Mono"/>
              </a:defRPr>
            </a:pPr>
            <a:r>
              <a:t>RELEASE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17336" y="2290572"/>
            <a:ext cx="2304288" cy="973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F1689"/>
                </a:solidFill>
                <a:latin typeface="Arial"/>
              </a:defRPr>
            </a:pPr>
            <a:r>
              <a:t>A tracked installation in a cluster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044952" y="2331720"/>
            <a:ext cx="212598" cy="0"/>
          </a:xfrm>
          <a:prstGeom prst="line">
            <a:avLst/>
          </a:prstGeom>
          <a:ln w="28575">
            <a:solidFill>
              <a:srgbClr val="DBE1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781294" y="2331720"/>
            <a:ext cx="212598" cy="0"/>
          </a:xfrm>
          <a:prstGeom prst="line">
            <a:avLst/>
          </a:prstGeom>
          <a:ln w="28575">
            <a:solidFill>
              <a:srgbClr val="DBE1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65226" y="3758184"/>
            <a:ext cx="7818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182233"/>
                </a:solidFill>
                <a:latin typeface="Arial"/>
              </a:defRPr>
            </a:pPr>
            <a:r>
              <a:t>Create · share · install · upgrade · roll back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" y="4272534"/>
            <a:ext cx="6720840" cy="25374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25" b="0">
                <a:solidFill>
                  <a:srgbClr val="596780"/>
                </a:solidFill>
                <a:latin typeface="Space Mono"/>
              </a:defRPr>
            </a:pPr>
            <a:r>
              <a:t>helm.sh/docs/intro/introduction/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93776" y="301752"/>
            <a:ext cx="8161020" cy="4526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50" b="0">
                <a:solidFill>
                  <a:srgbClr val="050843"/>
                </a:solidFill>
                <a:latin typeface="Arial"/>
              </a:defRPr>
            </a:pPr>
            <a:r>
              <a:t>Developers rate Helm as mature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4752594"/>
            <a:ext cx="7269479" cy="10287"/>
          </a:xfrm>
          <a:prstGeom prst="rect">
            <a:avLst/>
          </a:prstGeom>
          <a:solidFill>
            <a:srgbClr val="DBE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26464" y="4793742"/>
            <a:ext cx="3429000" cy="2331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25" b="0">
                <a:solidFill>
                  <a:srgbClr val="596780"/>
                </a:solidFill>
                <a:latin typeface="Space Mono"/>
              </a:defRPr>
            </a:pPr>
            <a:r>
              <a:t>WHY HELM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43316" y="4793742"/>
            <a:ext cx="37719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25" b="0">
                <a:solidFill>
                  <a:srgbClr val="596780"/>
                </a:solidFill>
                <a:latin typeface="Space Mono"/>
              </a:defRPr>
            </a:pPr>
            <a: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2084" y="1378457"/>
            <a:ext cx="1748789" cy="7200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50" b="1">
                <a:solidFill>
                  <a:srgbClr val="0F1689"/>
                </a:solidFill>
                <a:latin typeface="Space Mono"/>
              </a:defRPr>
            </a:pPr>
            <a:r>
              <a:t>2019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9516" y="2112264"/>
            <a:ext cx="3168396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182233"/>
                </a:solidFill>
                <a:latin typeface="Arial"/>
              </a:defRPr>
            </a:pPr>
            <a:r>
              <a:t>Helm 3.0 released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895344" y="1220724"/>
            <a:ext cx="0" cy="2647187"/>
          </a:xfrm>
          <a:prstGeom prst="line">
            <a:avLst/>
          </a:prstGeom>
          <a:ln w="19050">
            <a:solidFill>
              <a:srgbClr val="DBE1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265676" y="1309878"/>
            <a:ext cx="3806189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975" b="1">
                <a:solidFill>
                  <a:srgbClr val="95297C"/>
                </a:solidFill>
                <a:latin typeface="Space Mono"/>
              </a:defRPr>
            </a:pPr>
            <a:r>
              <a:t>94%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5676" y="2002536"/>
            <a:ext cx="3922776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25" b="1">
                <a:solidFill>
                  <a:srgbClr val="0F1689"/>
                </a:solidFill>
                <a:latin typeface="Arial"/>
              </a:defRPr>
            </a:pPr>
            <a:r>
              <a:t>rated Helm maturity 4 or 5 stars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65676" y="3003804"/>
            <a:ext cx="3895344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182233"/>
                </a:solidFill>
                <a:latin typeface="Arial"/>
              </a:defRPr>
            </a:pPr>
            <a:r>
              <a:t>Maturity meant stability and reliability in the survey.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8942" y="3813048"/>
            <a:ext cx="7818120" cy="33604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75" b="0">
                <a:solidFill>
                  <a:srgbClr val="596780"/>
                </a:solidFill>
                <a:latin typeface="Arial"/>
              </a:defRPr>
            </a:pPr>
            <a:r>
              <a:t>CNCF Q1 2026 Technology Radar · developers familiar with Helm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93776" y="301752"/>
            <a:ext cx="8161020" cy="4526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50" b="0">
                <a:solidFill>
                  <a:srgbClr val="050843"/>
                </a:solidFill>
                <a:latin typeface="Arial"/>
              </a:defRPr>
            </a:pPr>
            <a:r>
              <a:t>The cost of that compatibility promise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4752594"/>
            <a:ext cx="7269479" cy="10287"/>
          </a:xfrm>
          <a:prstGeom prst="rect">
            <a:avLst/>
          </a:prstGeom>
          <a:solidFill>
            <a:srgbClr val="DBE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26464" y="4793742"/>
            <a:ext cx="3429000" cy="2331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25" b="0">
                <a:solidFill>
                  <a:srgbClr val="596780"/>
                </a:solidFill>
                <a:latin typeface="Space Mono"/>
              </a:defRPr>
            </a:pPr>
            <a:r>
              <a:t>WHY HELM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43316" y="4793742"/>
            <a:ext cx="37719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25" b="0">
                <a:solidFill>
                  <a:srgbClr val="596780"/>
                </a:solidFill>
                <a:latin typeface="Space Mono"/>
              </a:defRPr>
            </a:pPr>
            <a: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" y="1385316"/>
            <a:ext cx="3710178" cy="4046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0F1689"/>
                </a:solidFill>
                <a:latin typeface="Arial"/>
              </a:defRPr>
            </a:pPr>
            <a:r>
              <a:t>Public SDK APIs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" y="2153412"/>
            <a:ext cx="3710178" cy="4046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0F1689"/>
                </a:solidFill>
                <a:latin typeface="Arial"/>
              </a:defRPr>
            </a:pPr>
            <a:r>
              <a:t>Architectural limits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" y="2921508"/>
            <a:ext cx="3710178" cy="4046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0F1689"/>
                </a:solidFill>
                <a:latin typeface="Arial"/>
              </a:defRPr>
            </a:pPr>
            <a:r>
              <a:t>Accumulated debt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423410" y="1296162"/>
            <a:ext cx="0" cy="2647188"/>
          </a:xfrm>
          <a:prstGeom prst="line">
            <a:avLst/>
          </a:prstGeom>
          <a:ln w="19050">
            <a:solidFill>
              <a:srgbClr val="DBE1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821174" y="1433322"/>
            <a:ext cx="3600450" cy="18790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50" b="1">
                <a:solidFill>
                  <a:srgbClr val="95297C"/>
                </a:solidFill>
                <a:latin typeface="Arial"/>
              </a:defRPr>
            </a:pPr>
            <a:r>
              <a:t>A major version makes room to change the interfaces that held new capabilities back.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93776" y="301752"/>
            <a:ext cx="8161020" cy="4526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50" b="0">
                <a:solidFill>
                  <a:srgbClr val="050843"/>
                </a:solidFill>
                <a:latin typeface="Arial"/>
              </a:defRPr>
            </a:pPr>
            <a:r>
              <a:t>Most of your investment stays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4752594"/>
            <a:ext cx="7269479" cy="10287"/>
          </a:xfrm>
          <a:prstGeom prst="rect">
            <a:avLst/>
          </a:prstGeom>
          <a:solidFill>
            <a:srgbClr val="DBE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26464" y="4793742"/>
            <a:ext cx="3429000" cy="2331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25" b="0">
                <a:solidFill>
                  <a:srgbClr val="596780"/>
                </a:solidFill>
                <a:latin typeface="Space Mono"/>
              </a:defRPr>
            </a:pPr>
            <a:r>
              <a:t>COMPATIBILITY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43316" y="4793742"/>
            <a:ext cx="37719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25" b="0">
                <a:solidFill>
                  <a:srgbClr val="596780"/>
                </a:solidFill>
                <a:latin typeface="Space Mono"/>
              </a:defRPr>
            </a:pPr>
            <a: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1509" y="1460754"/>
            <a:ext cx="3346704" cy="3771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95297C"/>
                </a:solidFill>
                <a:latin typeface="Space Mono"/>
              </a:defRPr>
            </a:pPr>
            <a:r>
              <a:t>CHARTS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1509" y="2009394"/>
            <a:ext cx="3703320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25" b="1">
                <a:solidFill>
                  <a:srgbClr val="050843"/>
                </a:solidFill>
                <a:latin typeface="Arial"/>
              </a:defRPr>
            </a:pPr>
            <a:r>
              <a:t>Chart API v2 remains supported.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600" y="1460754"/>
            <a:ext cx="3415284" cy="3771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95297C"/>
                </a:solidFill>
                <a:latin typeface="Space Mono"/>
              </a:defRPr>
            </a:pPr>
            <a:r>
              <a:t>RELEASES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2009394"/>
            <a:ext cx="3634739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25" b="1">
                <a:solidFill>
                  <a:srgbClr val="050843"/>
                </a:solidFill>
                <a:latin typeface="Arial"/>
              </a:defRPr>
            </a:pPr>
            <a:r>
              <a:t>Helm 4 can manage Helm 3 releases.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553712" y="1385316"/>
            <a:ext cx="0" cy="1906523"/>
          </a:xfrm>
          <a:prstGeom prst="line">
            <a:avLst/>
          </a:prstGeom>
          <a:ln w="19050">
            <a:solidFill>
              <a:srgbClr val="DBE1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95527" y="3723894"/>
            <a:ext cx="7584948" cy="514350"/>
          </a:xfrm>
          <a:prstGeom prst="roundRect">
            <a:avLst>
              <a:gd name="adj" fmla="val 8000"/>
            </a:avLst>
          </a:prstGeom>
          <a:solidFill>
            <a:srgbClr val="EC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0694" y="3833622"/>
            <a:ext cx="7221473" cy="2948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0F1689"/>
                </a:solidFill>
                <a:latin typeface="Arial"/>
              </a:defRPr>
            </a:pPr>
            <a:r>
              <a:t>Start with a new binary and a representative test environment.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93776" y="301752"/>
            <a:ext cx="8161020" cy="4526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50" b="0">
                <a:solidFill>
                  <a:srgbClr val="050843"/>
                </a:solidFill>
                <a:latin typeface="Arial"/>
              </a:defRPr>
            </a:pPr>
            <a:r>
              <a:t>The Helm 3 support clock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4752594"/>
            <a:ext cx="7269479" cy="10287"/>
          </a:xfrm>
          <a:prstGeom prst="rect">
            <a:avLst/>
          </a:prstGeom>
          <a:solidFill>
            <a:srgbClr val="DBE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26464" y="4793742"/>
            <a:ext cx="3429000" cy="2331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25" b="0">
                <a:solidFill>
                  <a:srgbClr val="596780"/>
                </a:solidFill>
                <a:latin typeface="Space Mono"/>
              </a:defRPr>
            </a:pPr>
            <a:r>
              <a:t>COMPATIBILITY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43316" y="4793742"/>
            <a:ext cx="37719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25" b="0">
                <a:solidFill>
                  <a:srgbClr val="596780"/>
                </a:solidFill>
                <a:latin typeface="Space Mono"/>
              </a:defRPr>
            </a:pPr>
            <a:r>
              <a:t>08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02386" y="2942082"/>
            <a:ext cx="7482078" cy="0"/>
          </a:xfrm>
          <a:prstGeom prst="line">
            <a:avLst/>
          </a:prstGeom>
          <a:ln w="38100">
            <a:solidFill>
              <a:srgbClr val="0F16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788670" y="2804922"/>
            <a:ext cx="274320" cy="274320"/>
          </a:xfrm>
          <a:prstGeom prst="ellipse">
            <a:avLst/>
          </a:prstGeom>
          <a:solidFill>
            <a:srgbClr val="1B53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8882" y="1700784"/>
            <a:ext cx="1543050" cy="33604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1B53C2"/>
                </a:solidFill>
                <a:latin typeface="Space Mono"/>
              </a:defRPr>
            </a:pPr>
            <a:r>
              <a:t>Nov 2025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" y="2084832"/>
            <a:ext cx="1851660" cy="62407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182233"/>
                </a:solidFill>
                <a:latin typeface="Arial"/>
              </a:defRPr>
            </a:pPr>
            <a:r>
              <a:t>Helm 4 released</a:t>
            </a:r>
          </a:p>
        </p:txBody>
      </p:sp>
      <p:sp>
        <p:nvSpPr>
          <p:cNvPr id="11" name="Oval 10"/>
          <p:cNvSpPr/>
          <p:nvPr/>
        </p:nvSpPr>
        <p:spPr>
          <a:xfrm>
            <a:off x="4087368" y="2804922"/>
            <a:ext cx="274320" cy="274320"/>
          </a:xfrm>
          <a:prstGeom prst="ellipse">
            <a:avLst/>
          </a:prstGeom>
          <a:solidFill>
            <a:srgbClr val="9529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97579" y="1700784"/>
            <a:ext cx="1543050" cy="33604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95297C"/>
                </a:solidFill>
                <a:latin typeface="Space Mono"/>
              </a:defRPr>
            </a:pPr>
            <a:r>
              <a:t>9 Sep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2988" y="2084832"/>
            <a:ext cx="1851660" cy="62407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182233"/>
                </a:solidFill>
                <a:latin typeface="Arial"/>
              </a:defRPr>
            </a:pPr>
            <a:r>
              <a:t>Final limited Helm 3 minor</a:t>
            </a:r>
          </a:p>
        </p:txBody>
      </p:sp>
      <p:sp>
        <p:nvSpPr>
          <p:cNvPr id="14" name="Oval 13"/>
          <p:cNvSpPr/>
          <p:nvPr/>
        </p:nvSpPr>
        <p:spPr>
          <a:xfrm>
            <a:off x="7872983" y="2804922"/>
            <a:ext cx="274320" cy="274320"/>
          </a:xfrm>
          <a:prstGeom prst="ellipse">
            <a:avLst/>
          </a:prstGeom>
          <a:solidFill>
            <a:srgbClr val="050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83196" y="1700784"/>
            <a:ext cx="1543050" cy="33604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050843"/>
                </a:solidFill>
                <a:latin typeface="Space Mono"/>
              </a:defRPr>
            </a:pPr>
            <a:r>
              <a:t>10 Feb 2027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8603" y="2084832"/>
            <a:ext cx="1851660" cy="62407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182233"/>
                </a:solidFill>
                <a:latin typeface="Arial"/>
              </a:defRPr>
            </a:pPr>
            <a:r>
              <a:t>Helm 3 security fixes 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2658" y="3751326"/>
            <a:ext cx="7715250" cy="4320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95297C"/>
                </a:solidFill>
                <a:latin typeface="Arial"/>
              </a:defRPr>
            </a:pPr>
            <a:r>
              <a:t>Use the remaining support window to test and roll out.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2356" y="1227582"/>
            <a:ext cx="5280660" cy="2400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FFFFFF"/>
                </a:solidFill>
                <a:latin typeface="Space Mono"/>
              </a:defRPr>
            </a:pPr>
            <a:r>
              <a:t>PART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2356" y="1618488"/>
            <a:ext cx="5506973" cy="13030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FFFF"/>
                </a:solidFill>
                <a:latin typeface="Arial"/>
              </a:defRPr>
            </a:pPr>
            <a:r>
              <a:t>What changed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FFFF"/>
                </a:solidFill>
                <a:latin typeface="Arial"/>
              </a:defRPr>
            </a:pPr>
            <a:r>
              <a:t>in Helm 4?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93776" y="301752"/>
            <a:ext cx="8161020" cy="4526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50" b="0">
                <a:solidFill>
                  <a:srgbClr val="050843"/>
                </a:solidFill>
                <a:latin typeface="Arial"/>
              </a:defRPr>
            </a:pPr>
            <a:r>
              <a:t>Four foundations for the next chapter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4752594"/>
            <a:ext cx="7269479" cy="10287"/>
          </a:xfrm>
          <a:prstGeom prst="rect">
            <a:avLst/>
          </a:prstGeom>
          <a:solidFill>
            <a:srgbClr val="DBE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26464" y="4793742"/>
            <a:ext cx="3429000" cy="2331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25" b="0">
                <a:solidFill>
                  <a:srgbClr val="596780"/>
                </a:solidFill>
                <a:latin typeface="Space Mono"/>
              </a:defRPr>
            </a:pPr>
            <a:r>
              <a:t>HELM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43316" y="4793742"/>
            <a:ext cx="37719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25" b="0">
                <a:solidFill>
                  <a:srgbClr val="596780"/>
                </a:solidFill>
                <a:latin typeface="Space Mono"/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8942" y="1234440"/>
            <a:ext cx="51435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95297C"/>
                </a:solidFill>
                <a:latin typeface="Space Mono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1872" y="1207008"/>
            <a:ext cx="304495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75" b="1">
                <a:solidFill>
                  <a:srgbClr val="0F1689"/>
                </a:solidFill>
                <a:latin typeface="Arial"/>
              </a:defRPr>
            </a:pPr>
            <a:r>
              <a:t>Extend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1687068"/>
            <a:ext cx="3051810" cy="6377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82233"/>
                </a:solidFill>
                <a:latin typeface="Arial"/>
              </a:defRPr>
            </a:pPr>
            <a:r>
              <a:t>Typed plugins and an optional Wasm runtime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7458" y="1234440"/>
            <a:ext cx="51435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95297C"/>
                </a:solidFill>
                <a:latin typeface="Space Mono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0388" y="1207008"/>
            <a:ext cx="304495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75" b="1">
                <a:solidFill>
                  <a:srgbClr val="0F1689"/>
                </a:solidFill>
                <a:latin typeface="Arial"/>
              </a:defRPr>
            </a:pPr>
            <a:r>
              <a:t>Operate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0388" y="1687068"/>
            <a:ext cx="3051810" cy="6377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82233"/>
                </a:solidFill>
                <a:latin typeface="Arial"/>
              </a:defRPr>
            </a:pPr>
            <a:r>
              <a:t>Apply semantics and status watching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8942" y="2804922"/>
            <a:ext cx="51435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95297C"/>
                </a:solidFill>
                <a:latin typeface="Space Mono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2777489"/>
            <a:ext cx="304495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75" b="1">
                <a:solidFill>
                  <a:srgbClr val="0F1689"/>
                </a:solidFill>
                <a:latin typeface="Arial"/>
              </a:defRPr>
            </a:pPr>
            <a:r>
              <a:t>Distribute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1872" y="3257550"/>
            <a:ext cx="3051810" cy="6377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82233"/>
                </a:solidFill>
                <a:latin typeface="Arial"/>
              </a:defRPr>
            </a:pPr>
            <a:r>
              <a:t>OCI digests and repeatable packages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7458" y="2804922"/>
            <a:ext cx="51435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95297C"/>
                </a:solidFill>
                <a:latin typeface="Space Mono"/>
              </a:defRPr>
            </a:pPr>
            <a: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0388" y="2777489"/>
            <a:ext cx="304495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75" b="1">
                <a:solidFill>
                  <a:srgbClr val="0F1689"/>
                </a:solidFill>
                <a:latin typeface="Arial"/>
              </a:defRPr>
            </a:pPr>
            <a:r>
              <a:t>Evolve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0388" y="3257550"/>
            <a:ext cx="3051810" cy="6377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82233"/>
                </a:solidFill>
                <a:latin typeface="Arial"/>
              </a:defRPr>
            </a:pPr>
            <a:r>
              <a:t>A versioned SDK and the Charts v3 path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478274" y="1303019"/>
            <a:ext cx="0" cy="2763775"/>
          </a:xfrm>
          <a:prstGeom prst="line">
            <a:avLst/>
          </a:prstGeom>
          <a:ln w="19050">
            <a:solidFill>
              <a:srgbClr val="DBE1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93776" y="301752"/>
            <a:ext cx="8161020" cy="4526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50" b="0">
                <a:solidFill>
                  <a:srgbClr val="050843"/>
                </a:solidFill>
                <a:latin typeface="Arial"/>
              </a:defRPr>
            </a:pPr>
            <a:r>
              <a:t>Plugins have a clearer shape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4752594"/>
            <a:ext cx="7269479" cy="10287"/>
          </a:xfrm>
          <a:prstGeom prst="rect">
            <a:avLst/>
          </a:prstGeom>
          <a:solidFill>
            <a:srgbClr val="DBE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26464" y="4793742"/>
            <a:ext cx="3429000" cy="2331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25" b="0">
                <a:solidFill>
                  <a:srgbClr val="596780"/>
                </a:solidFill>
                <a:latin typeface="Space Mono"/>
              </a:defRPr>
            </a:pPr>
            <a:r>
              <a:t>EXTENSIBILITY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43316" y="4793742"/>
            <a:ext cx="37719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25" b="0">
                <a:solidFill>
                  <a:srgbClr val="596780"/>
                </a:solidFill>
                <a:latin typeface="Space Mono"/>
              </a:defRPr>
            </a:pPr>
            <a: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399032"/>
            <a:ext cx="452628" cy="33604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95297C"/>
                </a:solidFill>
                <a:latin typeface="Space Mono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940814"/>
            <a:ext cx="2448306" cy="4183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50" b="1">
                <a:solidFill>
                  <a:srgbClr val="0F1689"/>
                </a:solidFill>
                <a:latin typeface="Arial"/>
              </a:defRPr>
            </a:pPr>
            <a:r>
              <a:t>CLI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2551176"/>
            <a:ext cx="2352294" cy="9532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82233"/>
                </a:solidFill>
                <a:latin typeface="Arial"/>
              </a:defRPr>
            </a:pPr>
            <a:r>
              <a:t>Add a Helm subcommand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2988" y="1399032"/>
            <a:ext cx="452628" cy="33604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95297C"/>
                </a:solidFill>
                <a:latin typeface="Space Mono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2988" y="1940814"/>
            <a:ext cx="2448306" cy="4183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50" b="1">
                <a:solidFill>
                  <a:srgbClr val="0F1689"/>
                </a:solidFill>
                <a:latin typeface="Arial"/>
              </a:defRPr>
            </a:pPr>
            <a:r>
              <a:t>Getter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2988" y="2551176"/>
            <a:ext cx="2352294" cy="9532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82233"/>
                </a:solidFill>
                <a:latin typeface="Arial"/>
              </a:defRPr>
            </a:pPr>
            <a:r>
              <a:t>Fetch charts from additional locations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62472" y="1399032"/>
            <a:ext cx="452628" cy="33604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95297C"/>
                </a:solidFill>
                <a:latin typeface="Space Mono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62472" y="1940814"/>
            <a:ext cx="2448306" cy="4183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50" b="1">
                <a:solidFill>
                  <a:srgbClr val="0F1689"/>
                </a:solidFill>
                <a:latin typeface="Arial"/>
              </a:defRPr>
            </a:pPr>
            <a:r>
              <a:t>Post-renderer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62472" y="2551176"/>
            <a:ext cx="2352294" cy="9532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82233"/>
                </a:solidFill>
                <a:latin typeface="Arial"/>
              </a:defRPr>
            </a:pPr>
            <a:r>
              <a:t>Transform rendered manifests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161538" y="1399032"/>
            <a:ext cx="0" cy="2263140"/>
          </a:xfrm>
          <a:prstGeom prst="line">
            <a:avLst/>
          </a:prstGeom>
          <a:ln w="19050">
            <a:solidFill>
              <a:srgbClr val="DBE1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891022" y="1399032"/>
            <a:ext cx="0" cy="2263140"/>
          </a:xfrm>
          <a:prstGeom prst="line">
            <a:avLst/>
          </a:prstGeom>
          <a:ln w="19050">
            <a:solidFill>
              <a:srgbClr val="DBE1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13232" y="3909060"/>
            <a:ext cx="7728966" cy="4457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25" b="1">
                <a:solidFill>
                  <a:srgbClr val="95297C"/>
                </a:solidFill>
                <a:latin typeface="Arial"/>
              </a:defRPr>
            </a:pPr>
            <a:r>
              <a:t>Optional Wasm runtime. Existing plugins continue to work.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93776" y="301752"/>
            <a:ext cx="8161020" cy="4526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50" b="0">
                <a:solidFill>
                  <a:srgbClr val="050843"/>
                </a:solidFill>
                <a:latin typeface="Arial"/>
              </a:defRPr>
            </a:pPr>
            <a:r>
              <a:t>A few integrations do change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4752594"/>
            <a:ext cx="7269479" cy="10287"/>
          </a:xfrm>
          <a:prstGeom prst="rect">
            <a:avLst/>
          </a:prstGeom>
          <a:solidFill>
            <a:srgbClr val="DBE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26464" y="4793742"/>
            <a:ext cx="3429000" cy="2331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25" b="0">
                <a:solidFill>
                  <a:srgbClr val="596780"/>
                </a:solidFill>
                <a:latin typeface="Space Mono"/>
              </a:defRPr>
            </a:pPr>
            <a:r>
              <a:t>EXTENSIBILITY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43316" y="4793742"/>
            <a:ext cx="37719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25" b="0">
                <a:solidFill>
                  <a:srgbClr val="596780"/>
                </a:solidFill>
                <a:latin typeface="Space Mono"/>
              </a:defRPr>
            </a:pPr>
            <a: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6948" y="1165860"/>
            <a:ext cx="2880360" cy="2948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596780"/>
                </a:solidFill>
                <a:latin typeface="Space Mono"/>
              </a:defRPr>
            </a:pPr>
            <a:r>
              <a:t>HELM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55464" y="1165860"/>
            <a:ext cx="2880360" cy="2948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95297C"/>
                </a:solidFill>
                <a:latin typeface="Space Mono"/>
              </a:defRPr>
            </a:pPr>
            <a:r>
              <a:t>HELM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9516" y="1543050"/>
            <a:ext cx="30861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25" b="1">
                <a:solidFill>
                  <a:srgbClr val="95297C"/>
                </a:solidFill>
                <a:latin typeface="Space Mono"/>
              </a:defRPr>
            </a:pPr>
            <a:r>
              <a:t>POST-RENDERER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5226" y="1831086"/>
            <a:ext cx="3621024" cy="630936"/>
          </a:xfrm>
          <a:prstGeom prst="roundRect">
            <a:avLst>
              <a:gd name="adj" fmla="val 8000"/>
            </a:avLst>
          </a:prstGeom>
          <a:solidFill>
            <a:srgbClr val="EC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9818" y="1927098"/>
            <a:ext cx="3298698" cy="4046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050843"/>
                </a:solidFill>
                <a:latin typeface="Space Mono"/>
              </a:defRPr>
            </a:pPr>
            <a:r>
              <a:t>--post-renderer ./tool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93742" y="1831086"/>
            <a:ext cx="3621024" cy="630936"/>
          </a:xfrm>
          <a:prstGeom prst="roundRect">
            <a:avLst>
              <a:gd name="adj" fmla="val 8000"/>
            </a:avLst>
          </a:prstGeom>
          <a:solidFill>
            <a:srgbClr val="EC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58334" y="1927098"/>
            <a:ext cx="3298698" cy="4046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050843"/>
                </a:solidFill>
                <a:latin typeface="Space Mono"/>
              </a:defRPr>
            </a:pPr>
            <a:r>
              <a:t>--post-renderer my-plugin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320540" y="2139696"/>
            <a:ext cx="377189" cy="0"/>
          </a:xfrm>
          <a:prstGeom prst="line">
            <a:avLst/>
          </a:prstGeom>
          <a:ln w="28575">
            <a:solidFill>
              <a:srgbClr val="9529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99516" y="2667762"/>
            <a:ext cx="4183379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25" b="1">
                <a:solidFill>
                  <a:srgbClr val="95297C"/>
                </a:solidFill>
                <a:latin typeface="Space Mono"/>
              </a:defRPr>
            </a:pPr>
            <a:r>
              <a:t>REGISTRY LOGIN TARGET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5226" y="2955798"/>
            <a:ext cx="3621024" cy="630936"/>
          </a:xfrm>
          <a:prstGeom prst="roundRect">
            <a:avLst>
              <a:gd name="adj" fmla="val 8000"/>
            </a:avLst>
          </a:prstGeom>
          <a:solidFill>
            <a:srgbClr val="EC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818" y="3051810"/>
            <a:ext cx="3298698" cy="4046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050843"/>
                </a:solidFill>
                <a:latin typeface="Space Mono"/>
              </a:defRPr>
            </a:pPr>
            <a:r>
              <a:t>https://registry.example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93742" y="2955798"/>
            <a:ext cx="3621024" cy="630936"/>
          </a:xfrm>
          <a:prstGeom prst="roundRect">
            <a:avLst>
              <a:gd name="adj" fmla="val 8000"/>
            </a:avLst>
          </a:prstGeom>
          <a:solidFill>
            <a:srgbClr val="EC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58334" y="3051810"/>
            <a:ext cx="3298698" cy="4046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050843"/>
                </a:solidFill>
                <a:latin typeface="Space Mono"/>
              </a:defRPr>
            </a:pPr>
            <a:r>
              <a:t>registry.example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320540" y="3264408"/>
            <a:ext cx="377189" cy="0"/>
          </a:xfrm>
          <a:prstGeom prst="line">
            <a:avLst/>
          </a:prstGeom>
          <a:ln w="28575">
            <a:solidFill>
              <a:srgbClr val="9529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99516" y="3895344"/>
            <a:ext cx="7646670" cy="4046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25" b="1">
                <a:solidFill>
                  <a:srgbClr val="0F1689"/>
                </a:solidFill>
                <a:latin typeface="Arial"/>
              </a:defRPr>
            </a:pPr>
            <a:r>
              <a:t>Search CI scripts for both changes.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93776" y="301752"/>
            <a:ext cx="8161020" cy="4526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50" b="0">
                <a:solidFill>
                  <a:srgbClr val="050843"/>
                </a:solidFill>
                <a:latin typeface="Arial"/>
              </a:defRPr>
            </a:pPr>
            <a:r>
              <a:t>Apply behavior remembers the release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4752594"/>
            <a:ext cx="7269479" cy="10287"/>
          </a:xfrm>
          <a:prstGeom prst="rect">
            <a:avLst/>
          </a:prstGeom>
          <a:solidFill>
            <a:srgbClr val="DBE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26464" y="4793742"/>
            <a:ext cx="3429000" cy="2331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25" b="0">
                <a:solidFill>
                  <a:srgbClr val="596780"/>
                </a:solidFill>
                <a:latin typeface="Space Mono"/>
              </a:defRPr>
            </a:pPr>
            <a:r>
              <a:t>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43316" y="4793742"/>
            <a:ext cx="37719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25" b="0">
                <a:solidFill>
                  <a:srgbClr val="596780"/>
                </a:solidFill>
                <a:latin typeface="Space Mono"/>
              </a:defRPr>
            </a:pPr>
            <a: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57884"/>
            <a:ext cx="3833622" cy="4046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50" b="1">
                <a:solidFill>
                  <a:srgbClr val="0F1689"/>
                </a:solidFill>
                <a:latin typeface="Arial"/>
              </a:defRPr>
            </a:pPr>
            <a:r>
              <a:t>New Helm 4 release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084" y="1940814"/>
            <a:ext cx="3758184" cy="1152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75" b="1">
                <a:solidFill>
                  <a:srgbClr val="95297C"/>
                </a:solidFill>
                <a:latin typeface="Arial"/>
              </a:defRPr>
            </a:pPr>
            <a:r>
              <a:t>Server-side apply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175" b="1">
                <a:solidFill>
                  <a:srgbClr val="95297C"/>
                </a:solidFill>
                <a:latin typeface="Arial"/>
              </a:defRPr>
            </a:pPr>
            <a:r>
              <a:t>by default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8606" y="1357884"/>
            <a:ext cx="3675888" cy="4046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50" b="1">
                <a:solidFill>
                  <a:srgbClr val="0F1689"/>
                </a:solidFill>
                <a:latin typeface="Arial"/>
              </a:defRPr>
            </a:pPr>
            <a:r>
              <a:t>Existing Helm 3 release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62322" y="1940814"/>
            <a:ext cx="3600450" cy="1152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25" b="1">
                <a:solidFill>
                  <a:srgbClr val="1B53C2"/>
                </a:solidFill>
                <a:latin typeface="Arial"/>
              </a:defRPr>
            </a:pPr>
            <a:r>
              <a:t>Keeps client-side apply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025" b="1">
                <a:solidFill>
                  <a:srgbClr val="1B53C2"/>
                </a:solidFill>
                <a:latin typeface="Arial"/>
              </a:defRPr>
            </a:pPr>
            <a:r>
              <a:t>on upgrade / rollback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594860" y="1316736"/>
            <a:ext cx="0" cy="2057400"/>
          </a:xfrm>
          <a:prstGeom prst="line">
            <a:avLst/>
          </a:prstGeom>
          <a:ln w="19050">
            <a:solidFill>
              <a:srgbClr val="DBE1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77824" y="3682746"/>
            <a:ext cx="7392923" cy="528066"/>
          </a:xfrm>
          <a:prstGeom prst="roundRect">
            <a:avLst>
              <a:gd name="adj" fmla="val 8000"/>
            </a:avLst>
          </a:prstGeom>
          <a:solidFill>
            <a:srgbClr val="EC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6706" y="3799332"/>
            <a:ext cx="6995159" cy="2948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050843"/>
                </a:solidFill>
                <a:latin typeface="Arial"/>
              </a:defRPr>
            </a:pPr>
            <a:r>
              <a:t>Override explicitly with --server-side when you choose.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93776" y="301752"/>
            <a:ext cx="8161020" cy="4526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50" b="0">
                <a:solidFill>
                  <a:srgbClr val="050843"/>
                </a:solidFill>
                <a:latin typeface="Arial"/>
              </a:defRPr>
            </a:pPr>
            <a:r>
              <a:t>Better signals while you wait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4752594"/>
            <a:ext cx="7269479" cy="10287"/>
          </a:xfrm>
          <a:prstGeom prst="rect">
            <a:avLst/>
          </a:prstGeom>
          <a:solidFill>
            <a:srgbClr val="DBE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26464" y="4793742"/>
            <a:ext cx="3429000" cy="2331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25" b="0">
                <a:solidFill>
                  <a:srgbClr val="596780"/>
                </a:solidFill>
                <a:latin typeface="Space Mono"/>
              </a:defRPr>
            </a:pPr>
            <a:r>
              <a:t>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43316" y="4793742"/>
            <a:ext cx="37719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25" b="0">
                <a:solidFill>
                  <a:srgbClr val="596780"/>
                </a:solidFill>
                <a:latin typeface="Space Mono"/>
              </a:defRPr>
            </a:pPr>
            <a:r>
              <a:t>14</a:t>
            </a:r>
          </a:p>
        </p:txBody>
      </p:sp>
      <p:sp>
        <p:nvSpPr>
          <p:cNvPr id="7" name="Oval 6"/>
          <p:cNvSpPr/>
          <p:nvPr/>
        </p:nvSpPr>
        <p:spPr>
          <a:xfrm>
            <a:off x="713232" y="1858517"/>
            <a:ext cx="425196" cy="425196"/>
          </a:xfrm>
          <a:prstGeom prst="ellipse">
            <a:avLst/>
          </a:prstGeom>
          <a:solidFill>
            <a:srgbClr val="0F16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2386" y="1913382"/>
            <a:ext cx="246888" cy="3086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FFFFFF"/>
                </a:solidFill>
                <a:latin typeface="Space Mono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9516" y="2482596"/>
            <a:ext cx="2311146" cy="3977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25" b="1">
                <a:solidFill>
                  <a:srgbClr val="0F1689"/>
                </a:solidFill>
                <a:latin typeface="Arial"/>
              </a:defRPr>
            </a:pPr>
            <a:r>
              <a:t>Deploy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" y="2935224"/>
            <a:ext cx="2352294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82233"/>
                </a:solidFill>
                <a:latin typeface="Arial"/>
              </a:defRPr>
            </a:pPr>
            <a:r>
              <a:t>Create or update</a:t>
            </a:r>
          </a:p>
        </p:txBody>
      </p:sp>
      <p:sp>
        <p:nvSpPr>
          <p:cNvPr id="11" name="Oval 10"/>
          <p:cNvSpPr/>
          <p:nvPr/>
        </p:nvSpPr>
        <p:spPr>
          <a:xfrm>
            <a:off x="3429000" y="1858517"/>
            <a:ext cx="425196" cy="425196"/>
          </a:xfrm>
          <a:prstGeom prst="ellipse">
            <a:avLst/>
          </a:prstGeom>
          <a:solidFill>
            <a:srgbClr val="0F16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18154" y="1913382"/>
            <a:ext cx="246888" cy="3086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FFFFFF"/>
                </a:solidFill>
                <a:latin typeface="Space Mono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15284" y="2482596"/>
            <a:ext cx="2311146" cy="3977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25" b="1">
                <a:solidFill>
                  <a:srgbClr val="0F1689"/>
                </a:solidFill>
                <a:latin typeface="Arial"/>
              </a:defRPr>
            </a:pPr>
            <a:r>
              <a:t>Observe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15284" y="2935224"/>
            <a:ext cx="2352294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82233"/>
                </a:solidFill>
                <a:latin typeface="Arial"/>
              </a:defRPr>
            </a:pPr>
            <a:r>
              <a:t>kstatus watches</a:t>
            </a:r>
          </a:p>
        </p:txBody>
      </p:sp>
      <p:sp>
        <p:nvSpPr>
          <p:cNvPr id="15" name="Oval 14"/>
          <p:cNvSpPr/>
          <p:nvPr/>
        </p:nvSpPr>
        <p:spPr>
          <a:xfrm>
            <a:off x="6144767" y="1858517"/>
            <a:ext cx="425196" cy="425196"/>
          </a:xfrm>
          <a:prstGeom prst="ellipse">
            <a:avLst/>
          </a:prstGeom>
          <a:solidFill>
            <a:srgbClr val="0F16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33922" y="1913382"/>
            <a:ext cx="246888" cy="3086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FFFFFF"/>
                </a:solidFill>
                <a:latin typeface="Space Mono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31052" y="2482596"/>
            <a:ext cx="2311146" cy="3977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25" b="1">
                <a:solidFill>
                  <a:srgbClr val="0F1689"/>
                </a:solidFill>
                <a:latin typeface="Arial"/>
              </a:defRPr>
            </a:pPr>
            <a:r>
              <a:t>Decide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31052" y="2935224"/>
            <a:ext cx="2352294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82233"/>
                </a:solidFill>
                <a:latin typeface="Arial"/>
              </a:defRPr>
            </a:pPr>
            <a:r>
              <a:t>Report status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914650" y="2077974"/>
            <a:ext cx="329184" cy="0"/>
          </a:xfrm>
          <a:prstGeom prst="line">
            <a:avLst/>
          </a:prstGeom>
          <a:ln w="28575">
            <a:solidFill>
              <a:srgbClr val="9529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630418" y="2077974"/>
            <a:ext cx="329184" cy="0"/>
          </a:xfrm>
          <a:prstGeom prst="line">
            <a:avLst/>
          </a:prstGeom>
          <a:ln w="28575">
            <a:solidFill>
              <a:srgbClr val="9529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72084" y="3847338"/>
            <a:ext cx="7797546" cy="5349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25" b="1">
                <a:solidFill>
                  <a:srgbClr val="95297C"/>
                </a:solidFill>
                <a:latin typeface="Arial"/>
              </a:defRPr>
            </a:pPr>
            <a:r>
              <a:t>Try complex, multi-resource rollouts and tell us what is confusing.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93776" y="301752"/>
            <a:ext cx="8161020" cy="4526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50" b="0">
                <a:solidFill>
                  <a:srgbClr val="050843"/>
                </a:solidFill>
                <a:latin typeface="Arial"/>
              </a:defRPr>
            </a:pPr>
            <a:r>
              <a:t>Pin the chart you meant to install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4752594"/>
            <a:ext cx="7269479" cy="10287"/>
          </a:xfrm>
          <a:prstGeom prst="rect">
            <a:avLst/>
          </a:prstGeom>
          <a:solidFill>
            <a:srgbClr val="DBE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26464" y="4793742"/>
            <a:ext cx="3429000" cy="2331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25" b="0">
                <a:solidFill>
                  <a:srgbClr val="596780"/>
                </a:solidFill>
                <a:latin typeface="Space Mono"/>
              </a:defRPr>
            </a:pPr>
            <a:r>
              <a:t>DISTRIBUTION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43316" y="4793742"/>
            <a:ext cx="37719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25" b="0">
                <a:solidFill>
                  <a:srgbClr val="596780"/>
                </a:solidFill>
                <a:latin typeface="Space Mono"/>
              </a:defRPr>
            </a:pPr>
            <a: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2084" y="1515618"/>
            <a:ext cx="777011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50843"/>
                </a:solidFill>
                <a:latin typeface="Space Mono"/>
              </a:defRPr>
            </a:pPr>
            <a:r>
              <a:t>oci://registry.example.com/charts/app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084" y="2153412"/>
            <a:ext cx="5486400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95297C"/>
                </a:solidFill>
                <a:latin typeface="Space Mono"/>
              </a:defRPr>
            </a:pPr>
            <a:r>
              <a:t>@sha256:abc123…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92658" y="2873502"/>
            <a:ext cx="7660386" cy="0"/>
          </a:xfrm>
          <a:prstGeom prst="line">
            <a:avLst/>
          </a:prstGeom>
          <a:ln w="19050">
            <a:solidFill>
              <a:srgbClr val="DBE1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72084" y="3175254"/>
            <a:ext cx="7667244" cy="50749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50" b="1">
                <a:solidFill>
                  <a:srgbClr val="0F1689"/>
                </a:solidFill>
                <a:latin typeface="Arial"/>
              </a:defRPr>
            </a:pPr>
            <a:r>
              <a:t>Digest-based installs verify the exact OCI artifact.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8942" y="3785615"/>
            <a:ext cx="7660386" cy="50749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96780"/>
                </a:solidFill>
                <a:latin typeface="Arial"/>
              </a:defRPr>
            </a:pPr>
            <a:r>
              <a:t>Content-based caching and reproducible chart archives improve repeatability.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93776" y="301752"/>
            <a:ext cx="8161020" cy="4526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50" b="0">
                <a:solidFill>
                  <a:srgbClr val="050843"/>
                </a:solidFill>
                <a:latin typeface="Arial"/>
              </a:defRPr>
            </a:pPr>
            <a:r>
              <a:t>Small changes you will notice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4752594"/>
            <a:ext cx="7269479" cy="10287"/>
          </a:xfrm>
          <a:prstGeom prst="rect">
            <a:avLst/>
          </a:prstGeom>
          <a:solidFill>
            <a:srgbClr val="DBE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26464" y="4793742"/>
            <a:ext cx="3429000" cy="2331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25" b="0">
                <a:solidFill>
                  <a:srgbClr val="596780"/>
                </a:solidFill>
                <a:latin typeface="Space Mono"/>
              </a:defRPr>
            </a:pPr>
            <a:r>
              <a:t>EVERYDAY WORKFLOWS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43316" y="4793742"/>
            <a:ext cx="37719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25" b="0">
                <a:solidFill>
                  <a:srgbClr val="596780"/>
                </a:solidFill>
                <a:latin typeface="Space Mono"/>
              </a:defRPr>
            </a:pPr>
            <a: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7794" y="1399032"/>
            <a:ext cx="3778758" cy="4320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0F1689"/>
                </a:solidFill>
                <a:latin typeface="Arial"/>
              </a:defRPr>
            </a:pPr>
            <a:r>
              <a:t>Multi-document values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" y="1872234"/>
            <a:ext cx="3634739" cy="62407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82233"/>
                </a:solidFill>
                <a:latin typeface="Arial"/>
              </a:defRPr>
            </a:pPr>
            <a:r>
              <a:t>Split values across YAML documents.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34890" y="1399032"/>
            <a:ext cx="3621024" cy="4320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0F1689"/>
                </a:solidFill>
                <a:latin typeface="Arial"/>
              </a:defRPr>
            </a:pPr>
            <a:r>
              <a:t>Clearer errors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1748" y="1872234"/>
            <a:ext cx="3579876" cy="62407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82233"/>
                </a:solidFill>
                <a:latin typeface="Arial"/>
              </a:defRPr>
            </a:pPr>
            <a:r>
              <a:t>More actionable failures.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560570" y="1337310"/>
            <a:ext cx="0" cy="1220724"/>
          </a:xfrm>
          <a:prstGeom prst="line">
            <a:avLst/>
          </a:prstGeom>
          <a:ln w="19050">
            <a:solidFill>
              <a:srgbClr val="DBE1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37794" y="2804922"/>
            <a:ext cx="7804404" cy="0"/>
          </a:xfrm>
          <a:prstGeom prst="line">
            <a:avLst/>
          </a:prstGeom>
          <a:ln w="19050">
            <a:solidFill>
              <a:srgbClr val="DBE1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06374" y="3175254"/>
            <a:ext cx="2352294" cy="3771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75" b="0">
                <a:solidFill>
                  <a:srgbClr val="596780"/>
                </a:solidFill>
                <a:latin typeface="Space Mono"/>
              </a:defRPr>
            </a:pPr>
            <a:r>
              <a:t>--atomic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03804" y="3140964"/>
            <a:ext cx="459486" cy="4183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25" b="0">
                <a:solidFill>
                  <a:srgbClr val="95297C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52444" y="3175254"/>
            <a:ext cx="4745736" cy="3771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0F1689"/>
                </a:solidFill>
                <a:latin typeface="Space Mono"/>
              </a:defRPr>
            </a:pPr>
            <a:r>
              <a:t>--rollback-on-failure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6374" y="3751326"/>
            <a:ext cx="2352294" cy="3771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75" b="0">
                <a:solidFill>
                  <a:srgbClr val="596780"/>
                </a:solidFill>
                <a:latin typeface="Space Mono"/>
              </a:defRPr>
            </a:pPr>
            <a:r>
              <a:t>--force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03804" y="3717035"/>
            <a:ext cx="459486" cy="4183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25" b="0">
                <a:solidFill>
                  <a:srgbClr val="95297C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52444" y="3751326"/>
            <a:ext cx="4745736" cy="3771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0F1689"/>
                </a:solidFill>
                <a:latin typeface="Space Mono"/>
              </a:defRPr>
            </a:pPr>
            <a:r>
              <a:t>--force-replace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93776" y="301752"/>
            <a:ext cx="8161020" cy="4526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50" b="0">
                <a:solidFill>
                  <a:srgbClr val="050843"/>
                </a:solidFill>
                <a:latin typeface="Arial"/>
              </a:defRPr>
            </a:pPr>
            <a:r>
              <a:t>A foundation for the next chart format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4752594"/>
            <a:ext cx="7269479" cy="10287"/>
          </a:xfrm>
          <a:prstGeom prst="rect">
            <a:avLst/>
          </a:prstGeom>
          <a:solidFill>
            <a:srgbClr val="DBE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26464" y="4793742"/>
            <a:ext cx="3429000" cy="2331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25" b="0">
                <a:solidFill>
                  <a:srgbClr val="596780"/>
                </a:solidFill>
                <a:latin typeface="Space Mono"/>
              </a:defRPr>
            </a:pPr>
            <a:r>
              <a:t>FUTURE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43316" y="4793742"/>
            <a:ext cx="37719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25" b="0">
                <a:solidFill>
                  <a:srgbClr val="596780"/>
                </a:solidFill>
                <a:latin typeface="Space Mono"/>
              </a:defRPr>
            </a:pPr>
            <a: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90" y="1453896"/>
            <a:ext cx="3236976" cy="45948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75" b="1">
                <a:solidFill>
                  <a:srgbClr val="0F1689"/>
                </a:solidFill>
                <a:latin typeface="Space Mono"/>
              </a:defRPr>
            </a:pPr>
            <a:r>
              <a:t>Charts v2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6948" y="1995678"/>
            <a:ext cx="3236976" cy="4183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182233"/>
                </a:solidFill>
                <a:latin typeface="Arial"/>
              </a:defRPr>
            </a:pPr>
            <a:r>
              <a:t>Supported today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689604" y="2084832"/>
            <a:ext cx="1501902" cy="0"/>
          </a:xfrm>
          <a:prstGeom prst="line">
            <a:avLst/>
          </a:prstGeom>
          <a:ln w="28575">
            <a:solidFill>
              <a:srgbClr val="9529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294376" y="1453896"/>
            <a:ext cx="3236976" cy="45948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75" b="1">
                <a:solidFill>
                  <a:srgbClr val="0F1689"/>
                </a:solidFill>
                <a:latin typeface="Space Mono"/>
              </a:defRPr>
            </a:pPr>
            <a:r>
              <a:t>Charts v3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8092" y="1995678"/>
            <a:ext cx="3236976" cy="4183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95297C"/>
                </a:solidFill>
                <a:latin typeface="Arial"/>
              </a:defRPr>
            </a:pPr>
            <a:r>
              <a:t>Experimental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113532"/>
            <a:ext cx="7742681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050843"/>
                </a:solidFill>
                <a:latin typeface="Arial"/>
              </a:defRPr>
            </a:pPr>
            <a:r>
              <a:t>Versioned SDK APIs make this evolution possible.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658" y="3778758"/>
            <a:ext cx="7756398" cy="4800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75" b="0">
                <a:solidFill>
                  <a:srgbClr val="596780"/>
                </a:solidFill>
                <a:latin typeface="Arial"/>
              </a:defRPr>
            </a:pPr>
            <a:r>
              <a:t>This is a feedback opportunity, not an upgrade requirement.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2356" y="1227582"/>
            <a:ext cx="5280660" cy="2400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FFFFFF"/>
                </a:solidFill>
                <a:latin typeface="Space Mono"/>
              </a:defRPr>
            </a:pPr>
            <a:r>
              <a:t>PART THREE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2356" y="1618488"/>
            <a:ext cx="5506973" cy="13030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FFFF"/>
                </a:solidFill>
                <a:latin typeface="Arial"/>
              </a:defRPr>
            </a:pPr>
            <a:r>
              <a:t>How do we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FFFF"/>
                </a:solidFill>
                <a:latin typeface="Arial"/>
              </a:defRPr>
            </a:pPr>
            <a:r>
              <a:t>move forward?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93776" y="301752"/>
            <a:ext cx="8161020" cy="4526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50" b="0">
                <a:solidFill>
                  <a:srgbClr val="050843"/>
                </a:solidFill>
                <a:latin typeface="Arial"/>
              </a:defRPr>
            </a:pPr>
            <a:r>
              <a:t>Upgrade in five deliberate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4752594"/>
            <a:ext cx="7269479" cy="10287"/>
          </a:xfrm>
          <a:prstGeom prst="rect">
            <a:avLst/>
          </a:prstGeom>
          <a:solidFill>
            <a:srgbClr val="DBE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26464" y="4793742"/>
            <a:ext cx="3429000" cy="2331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25" b="0">
                <a:solidFill>
                  <a:srgbClr val="596780"/>
                </a:solidFill>
                <a:latin typeface="Space Mono"/>
              </a:defRPr>
            </a:pPr>
            <a:r>
              <a:t>MIGRATION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43316" y="4793742"/>
            <a:ext cx="37719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25" b="0">
                <a:solidFill>
                  <a:srgbClr val="596780"/>
                </a:solidFill>
                <a:latin typeface="Space Mono"/>
              </a:defRPr>
            </a:pPr>
            <a: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4078" y="1179576"/>
            <a:ext cx="507491" cy="2948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95297C"/>
                </a:solidFill>
                <a:latin typeface="Space Mono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6162" y="1152144"/>
            <a:ext cx="6933438" cy="3909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050843"/>
                </a:solidFill>
                <a:latin typeface="Arial"/>
              </a:defRPr>
            </a:pPr>
            <a:r>
              <a:t>Test representative charts and releases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296162" y="1611630"/>
            <a:ext cx="7036308" cy="0"/>
          </a:xfrm>
          <a:prstGeom prst="line">
            <a:avLst/>
          </a:prstGeom>
          <a:ln w="9525">
            <a:solidFill>
              <a:srgbClr val="DBE1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4078" y="1796796"/>
            <a:ext cx="507491" cy="2948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95297C"/>
                </a:solidFill>
                <a:latin typeface="Space Mono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6162" y="1769364"/>
            <a:ext cx="6933438" cy="3909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050843"/>
                </a:solidFill>
                <a:latin typeface="Arial"/>
              </a:defRPr>
            </a:pPr>
            <a:r>
              <a:t>Exercise your CI / CD commands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296162" y="2228850"/>
            <a:ext cx="7036308" cy="0"/>
          </a:xfrm>
          <a:prstGeom prst="line">
            <a:avLst/>
          </a:prstGeom>
          <a:ln w="9525">
            <a:solidFill>
              <a:srgbClr val="DBE1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24078" y="2414016"/>
            <a:ext cx="507491" cy="2948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95297C"/>
                </a:solidFill>
                <a:latin typeface="Space Mono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6162" y="2386584"/>
            <a:ext cx="6933438" cy="3909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050843"/>
                </a:solidFill>
                <a:latin typeface="Arial"/>
              </a:defRPr>
            </a:pPr>
            <a:r>
              <a:t>Check plugins and post-renderers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296162" y="2846070"/>
            <a:ext cx="7036308" cy="0"/>
          </a:xfrm>
          <a:prstGeom prst="line">
            <a:avLst/>
          </a:prstGeom>
          <a:ln w="9525">
            <a:solidFill>
              <a:srgbClr val="DBE1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24078" y="3031236"/>
            <a:ext cx="507491" cy="2948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95297C"/>
                </a:solidFill>
                <a:latin typeface="Space Mono"/>
              </a:defRPr>
            </a:pPr>
            <a: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96162" y="3003804"/>
            <a:ext cx="6933438" cy="3909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050843"/>
                </a:solidFill>
                <a:latin typeface="Arial"/>
              </a:defRPr>
            </a:pPr>
            <a:r>
              <a:t>Verify registry login and OCI installs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296162" y="3463289"/>
            <a:ext cx="7036308" cy="0"/>
          </a:xfrm>
          <a:prstGeom prst="line">
            <a:avLst/>
          </a:prstGeom>
          <a:ln w="9525">
            <a:solidFill>
              <a:srgbClr val="DBE1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24078" y="3648456"/>
            <a:ext cx="507491" cy="2948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95297C"/>
                </a:solidFill>
                <a:latin typeface="Space Mono"/>
              </a:defRPr>
            </a:pPr>
            <a: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6162" y="3621024"/>
            <a:ext cx="6933438" cy="3909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050843"/>
                </a:solidFill>
                <a:latin typeface="Arial"/>
              </a:defRPr>
            </a:pPr>
            <a:r>
              <a:t>Roll out the Helm 4 binary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93776" y="301752"/>
            <a:ext cx="8161020" cy="4526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50" b="0">
                <a:solidFill>
                  <a:srgbClr val="050843"/>
                </a:solidFill>
                <a:latin typeface="Arial"/>
              </a:defRPr>
            </a:pPr>
            <a:r>
              <a:t>Make the first upgrade boring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4752594"/>
            <a:ext cx="7269479" cy="10287"/>
          </a:xfrm>
          <a:prstGeom prst="rect">
            <a:avLst/>
          </a:prstGeom>
          <a:solidFill>
            <a:srgbClr val="DBE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26464" y="4793742"/>
            <a:ext cx="3429000" cy="2331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25" b="0">
                <a:solidFill>
                  <a:srgbClr val="596780"/>
                </a:solidFill>
                <a:latin typeface="Space Mono"/>
              </a:defRPr>
            </a:pPr>
            <a:r>
              <a:t>MIGRATION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43316" y="4793742"/>
            <a:ext cx="37719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25" b="0">
                <a:solidFill>
                  <a:srgbClr val="596780"/>
                </a:solidFill>
                <a:latin typeface="Space Mono"/>
              </a:defRPr>
            </a:pPr>
            <a: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" y="1179576"/>
            <a:ext cx="1474469" cy="33604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95297C"/>
                </a:solidFill>
                <a:latin typeface="Space Mono"/>
              </a:defRPr>
            </a:pPr>
            <a:r>
              <a:t>INVENTORY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3714" y="1179576"/>
            <a:ext cx="6144768" cy="34975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050843"/>
                </a:solidFill>
                <a:latin typeface="Space Mono"/>
              </a:defRPr>
            </a:pPr>
            <a:r>
              <a:t>helm list -A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" y="1762505"/>
            <a:ext cx="1474469" cy="33604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95297C"/>
                </a:solidFill>
                <a:latin typeface="Space Mono"/>
              </a:defRPr>
            </a:pPr>
            <a:r>
              <a:t>VALIDATE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3714" y="1762505"/>
            <a:ext cx="6144768" cy="34975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050843"/>
                </a:solidFill>
                <a:latin typeface="Space Mono"/>
              </a:defRPr>
            </a:pPr>
            <a:r>
              <a:t>helm lint ./chart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" y="2345436"/>
            <a:ext cx="1474469" cy="33604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95297C"/>
                </a:solidFill>
                <a:latin typeface="Space Mono"/>
              </a:defRPr>
            </a:pPr>
            <a:r>
              <a:t>RENDER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3714" y="2345436"/>
            <a:ext cx="6144768" cy="34975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050843"/>
                </a:solidFill>
                <a:latin typeface="Space Mono"/>
              </a:defRPr>
            </a:pPr>
            <a:r>
              <a:t>helm template canary ./chart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" y="2928365"/>
            <a:ext cx="1474469" cy="33604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95297C"/>
                </a:solidFill>
                <a:latin typeface="Space Mono"/>
              </a:defRPr>
            </a:pPr>
            <a:r>
              <a:t>CANARY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3714" y="2928365"/>
            <a:ext cx="6144768" cy="34975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050843"/>
                </a:solidFill>
                <a:latin typeface="Space Mono"/>
              </a:defRPr>
            </a:pPr>
            <a:r>
              <a:t>helm upgrade --install canary ./chart -n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3511296"/>
            <a:ext cx="1474469" cy="33604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95297C"/>
                </a:solidFill>
                <a:latin typeface="Space Mono"/>
              </a:defRPr>
            </a:pPr>
            <a:r>
              <a:t>OBSERVE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3714" y="3511296"/>
            <a:ext cx="6144768" cy="34975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050843"/>
                </a:solidFill>
                <a:latin typeface="Space Mono"/>
              </a:defRPr>
            </a:pPr>
            <a:r>
              <a:t>helm status canary -n test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2658" y="4258818"/>
            <a:ext cx="7680959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596780"/>
                </a:solidFill>
                <a:latin typeface="Arial"/>
              </a:defRPr>
            </a:pPr>
            <a:r>
              <a:t>Then test an existing Helm 3 release, a failure, and a rollback.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93776" y="301752"/>
            <a:ext cx="8161020" cy="4526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50" b="0">
                <a:solidFill>
                  <a:srgbClr val="050843"/>
                </a:solidFill>
                <a:latin typeface="Arial"/>
              </a:defRPr>
            </a:pPr>
            <a:r>
              <a:t>There is a way in for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4752594"/>
            <a:ext cx="7269479" cy="10287"/>
          </a:xfrm>
          <a:prstGeom prst="rect">
            <a:avLst/>
          </a:prstGeom>
          <a:solidFill>
            <a:srgbClr val="DBE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26464" y="4793742"/>
            <a:ext cx="3429000" cy="2331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25" b="0">
                <a:solidFill>
                  <a:srgbClr val="596780"/>
                </a:solidFill>
                <a:latin typeface="Space Mono"/>
              </a:defRPr>
            </a:pPr>
            <a:r>
              <a:t>COMMUNITY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43316" y="4793742"/>
            <a:ext cx="37719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25" b="0">
                <a:solidFill>
                  <a:srgbClr val="596780"/>
                </a:solidFill>
                <a:latin typeface="Space Mono"/>
              </a:defRPr>
            </a:pPr>
            <a: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" y="1419605"/>
            <a:ext cx="459486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95297C"/>
                </a:solidFill>
                <a:latin typeface="Space Mono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" y="1913382"/>
            <a:ext cx="2311146" cy="3977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0F1689"/>
                </a:solidFill>
                <a:latin typeface="Arial"/>
              </a:defRPr>
            </a:pPr>
            <a:r>
              <a:t>Try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" y="2455164"/>
            <a:ext cx="2352294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82233"/>
                </a:solidFill>
                <a:latin typeface="Arial"/>
              </a:defRPr>
            </a:pPr>
            <a:r>
              <a:t>Test a Helm 4 workflow and share a precise reproduction.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67278" y="1419605"/>
            <a:ext cx="459486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95297C"/>
                </a:solidFill>
                <a:latin typeface="Space Mono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67278" y="1913382"/>
            <a:ext cx="2311146" cy="3977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0F1689"/>
                </a:solidFill>
                <a:latin typeface="Arial"/>
              </a:defRPr>
            </a:pPr>
            <a:r>
              <a:t>Talk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67278" y="2455164"/>
            <a:ext cx="2352294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82233"/>
                </a:solidFill>
                <a:latin typeface="Arial"/>
              </a:defRPr>
            </a:pPr>
            <a:r>
              <a:t>Join #helm-dev or the public weekly meeting.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03620" y="1419605"/>
            <a:ext cx="459486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95297C"/>
                </a:solidFill>
                <a:latin typeface="Space Mono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03620" y="1913382"/>
            <a:ext cx="2311146" cy="3977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0F1689"/>
                </a:solidFill>
                <a:latin typeface="Arial"/>
              </a:defRPr>
            </a:pPr>
            <a:r>
              <a:t>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03620" y="2455164"/>
            <a:ext cx="2352294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82233"/>
                </a:solidFill>
                <a:latin typeface="Arial"/>
              </a:defRPr>
            </a:pPr>
            <a:r>
              <a:t>Open a docs change, issue, plugin, or project PR.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195828" y="1371600"/>
            <a:ext cx="0" cy="2235708"/>
          </a:xfrm>
          <a:prstGeom prst="line">
            <a:avLst/>
          </a:prstGeom>
          <a:ln w="19050">
            <a:solidFill>
              <a:srgbClr val="DBE1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932170" y="1371600"/>
            <a:ext cx="0" cy="2235708"/>
          </a:xfrm>
          <a:prstGeom prst="line">
            <a:avLst/>
          </a:prstGeom>
          <a:ln w="19050">
            <a:solidFill>
              <a:srgbClr val="DBE1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13232" y="3950208"/>
            <a:ext cx="7715250" cy="45948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25" b="1">
                <a:solidFill>
                  <a:srgbClr val="95297C"/>
                </a:solidFill>
                <a:latin typeface="Space Mono"/>
              </a:defRPr>
            </a:pPr>
            <a:r>
              <a:t>helm.sh/community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2356" y="1227582"/>
            <a:ext cx="5280660" cy="2400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FFFFFF"/>
                </a:solidFill>
                <a:latin typeface="Space Mono"/>
              </a:defRPr>
            </a:pPr>
            <a:r>
              <a:t>TAKEAWAYS +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2356" y="1618488"/>
            <a:ext cx="5506973" cy="13030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FFFF"/>
                </a:solidFill>
                <a:latin typeface="Arial"/>
              </a:defRPr>
            </a:pPr>
            <a:r>
              <a:t>The future is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FFFF"/>
                </a:solidFill>
                <a:latin typeface="Arial"/>
              </a:defRPr>
            </a:pPr>
            <a:r>
              <a:t>with Helm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9788" y="3511296"/>
            <a:ext cx="5863590" cy="6720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0664" y="3627882"/>
            <a:ext cx="5602986" cy="4183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0F1689"/>
                </a:solidFill>
                <a:latin typeface="Arial"/>
              </a:defRPr>
            </a:pPr>
            <a:r>
              <a:t>Keep the charts. Test the workflow. Join the project.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0362" y="3038094"/>
            <a:ext cx="4389120" cy="3634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FFFFFF"/>
                </a:solidFill>
                <a:latin typeface="Space Mono"/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93776" y="301752"/>
            <a:ext cx="8161020" cy="4526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50" b="0">
                <a:solidFill>
                  <a:srgbClr val="050843"/>
                </a:solidFill>
                <a:latin typeface="Arial"/>
              </a:defRPr>
            </a:pPr>
            <a:r>
              <a:t>Sources and further reading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4752594"/>
            <a:ext cx="7269479" cy="10287"/>
          </a:xfrm>
          <a:prstGeom prst="rect">
            <a:avLst/>
          </a:prstGeom>
          <a:solidFill>
            <a:srgbClr val="DBE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26464" y="4793742"/>
            <a:ext cx="3429000" cy="2331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25" b="0">
                <a:solidFill>
                  <a:srgbClr val="596780"/>
                </a:solidFill>
                <a:latin typeface="Space Mono"/>
              </a:defRPr>
            </a:pPr>
            <a:r>
              <a:t>APPENDIX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43316" y="4793742"/>
            <a:ext cx="37719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25" b="0">
                <a:solidFill>
                  <a:srgbClr val="596780"/>
                </a:solidFill>
                <a:latin typeface="Space Mono"/>
              </a:defRPr>
            </a:pPr>
            <a: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4652" y="1378457"/>
            <a:ext cx="3566160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0F1689"/>
                </a:solidFill>
                <a:latin typeface="Arial"/>
              </a:defRPr>
            </a:pPr>
            <a:r>
              <a:t>Helm 4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" y="1748789"/>
            <a:ext cx="3586734" cy="34975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25" b="0">
                <a:solidFill>
                  <a:srgbClr val="596780"/>
                </a:solidFill>
                <a:latin typeface="Space Mono"/>
              </a:defRPr>
            </a:pPr>
            <a:r>
              <a:t>helm.sh/docs/overview/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" y="2640329"/>
            <a:ext cx="3566160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0F1689"/>
                </a:solidFill>
                <a:latin typeface="Arial"/>
              </a:defRPr>
            </a:pPr>
            <a:r>
              <a:t>Helm 3 end-of-life timeline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" y="3010661"/>
            <a:ext cx="3586734" cy="34975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25" b="0">
                <a:solidFill>
                  <a:srgbClr val="596780"/>
                </a:solidFill>
                <a:latin typeface="Space Mono"/>
              </a:defRPr>
            </a:pPr>
            <a:r>
              <a:t>helm.sh/blog/helm-v3-end-of-life/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18304" y="1378457"/>
            <a:ext cx="3566160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0F1689"/>
                </a:solidFill>
                <a:latin typeface="Arial"/>
              </a:defRPr>
            </a:pPr>
            <a:r>
              <a:t>Plugin migration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18304" y="1748789"/>
            <a:ext cx="3586734" cy="34975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25" b="0">
                <a:solidFill>
                  <a:srgbClr val="596780"/>
                </a:solidFill>
                <a:latin typeface="Space Mono"/>
              </a:defRPr>
            </a:pPr>
            <a:r>
              <a:t>helm.sh/docs/plugins/migrate/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18304" y="2640329"/>
            <a:ext cx="3566160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0F1689"/>
                </a:solidFill>
                <a:latin typeface="Arial"/>
              </a:defRPr>
            </a:pPr>
            <a:r>
              <a:t>Helm community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18304" y="3010661"/>
            <a:ext cx="3586734" cy="34975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25" b="0">
                <a:solidFill>
                  <a:srgbClr val="596780"/>
                </a:solidFill>
                <a:latin typeface="Space Mono"/>
              </a:defRPr>
            </a:pPr>
            <a:r>
              <a:t>helm.sh/community/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SSNA24">
  <a:themeElements>
    <a:clrScheme name="Custom 10">
      <a:dk1>
        <a:srgbClr val="000000"/>
      </a:dk1>
      <a:lt1>
        <a:srgbClr val="FFFFFF"/>
      </a:lt1>
      <a:dk2>
        <a:srgbClr val="052243"/>
      </a:dk2>
      <a:lt2>
        <a:srgbClr val="113E82"/>
      </a:lt2>
      <a:accent1>
        <a:srgbClr val="D62293"/>
      </a:accent1>
      <a:accent2>
        <a:srgbClr val="FFEE88"/>
      </a:accent2>
      <a:accent3>
        <a:srgbClr val="113851"/>
      </a:accent3>
      <a:accent4>
        <a:srgbClr val="2E9C68"/>
      </a:accent4>
      <a:accent5>
        <a:srgbClr val="40BE95"/>
      </a:accent5>
      <a:accent6>
        <a:srgbClr val="E3F6FF"/>
      </a:accent6>
      <a:hlink>
        <a:srgbClr val="ADC5EF"/>
      </a:hlink>
      <a:folHlink>
        <a:srgbClr val="FFF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Breaking Up Is Hard, but the Future Is with Helm 4</dc:title>
  <dc:subject>KubeCon + CloudNativeCon North America 2026 talk draft</dc:subject>
  <dc:creator>Joe Julian</dc:creator>
  <cp:lastModifiedBy>Joe Julian</cp:lastModifiedBy>
  <dcterms:created xsi:type="dcterms:W3CDTF">2026-10-27T16:37:52Z</dcterms:created>
  <dcterms:modified xsi:type="dcterms:W3CDTF">2026-10-27T16:37:52Z</dcterms:modified>
</cp:coreProperties>
</file>