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  <a:p>
            <a:r>
              <a:t>Target: 0:30</a:t>
            </a:r>
          </a:p>
          <a:p/>
          <a:p>
            <a:r>
              <a:t>Welcome. Matt and Joe introduce the talk. Helm 3 carried the ecosystem for six years. The purpose today is to explain what Helm 4 changes, why the upgrade path is manageable, and where contributors can help shape the future.</a:t>
            </a:r>
          </a:p>
          <a:p/>
          <a:p>
            <a:r>
              <a:t>Sources:</a:t>
            </a:r>
          </a:p>
          <a:p>
            <a:r>
              <a:t>- https://kubecon-cloudnativecon-north-america-2026.sessionize.com/session/1289638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we are</a:t>
            </a:r>
          </a:p>
          <a:p>
            <a:r>
              <a:t>Target: 0:30</a:t>
            </a:r>
          </a:p>
          <a:p/>
          <a:p>
            <a:r>
              <a:t>Briefly introduce yourselves and your relationship to Helm. The audience should understand that this is a maintainer perspective grounded in the project and its wider community.</a:t>
            </a:r>
          </a:p>
          <a:p/>
          <a:p>
            <a:r>
              <a:t>Sources:</a:t>
            </a:r>
          </a:p>
          <a:p>
            <a:r>
              <a:t>- https://kubecon-cloudnativecon-north-america-2026.sessionize.com/session/1289638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are we breaking up with?</a:t>
            </a:r>
          </a:p>
          <a:p>
            <a:r>
              <a:t>Target: 0:10</a:t>
            </a:r>
          </a:p>
          <a:p/>
          <a:p>
            <a:r>
              <a:t>Move from the title into the reason for a major release. The target is architectural constraints, while keeping existing charts and releases viable.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Helm still is</a:t>
            </a:r>
          </a:p>
          <a:p>
            <a:r>
              <a:t>Target: 0:50</a:t>
            </a:r>
          </a:p>
          <a:p/>
          <a:p>
            <a:r>
              <a:t>Start with the durable job of Helm: it is the package manager for Kubernetes. A chart is a versioned package of Kubernetes resource definitions. Helm installs a chart to create a release, and it manages that release through upgrades and rollback. A chart can create more than one separately tracked release. Helm 4 changes parts of the implementation and some integrations, but this core model remains recognizable.</a:t>
            </a:r>
          </a:p>
          <a:p/>
          <a:p>
            <a:r>
              <a:t>Sources:</a:t>
            </a:r>
          </a:p>
          <a:p>
            <a:r>
              <a:t>- https://helm.sh/docs/intro/introduction/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Developers rate Helm as mature</a:t>
            </a:r>
          </a:p>
          <a:p>
            <a:r>
              <a:t>Target: 1:40</a:t>
            </a:r>
          </a:p>
          <a:p/>
          <a:p>
            <a:r>
              <a:t>Helm 3 was released in November 2019. In the CNCF Q1 2026 Technology Radar, 94% of surveyed developers familiar with Helm rated its maturity 4 or 5 stars, the strongest maturity result among application delivery tools. The report defines maturity in terms of stability and reliability. This is a perception survey about Helm overall, not an uptime measurement or a Helm 3-only result. The broad installed base and integrations made compatibility important as Helm 4 was designed.</a:t>
            </a:r>
          </a:p>
          <a:p/>
          <a:p>
            <a:r>
              <a:t>Sources:</a:t>
            </a:r>
          </a:p>
          <a:p>
            <a:r>
              <a:t>- https://www.cncf.io/wp-content/uploads/2026/03/Q1-2026-CNCF-Technology-Radar-Report.pdf</a:t>
            </a:r>
          </a:p>
          <a:p>
            <a:r>
              <a:t>- https://helm.sh/blog/the-road-to-helm-4/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of that compatibility promise</a:t>
            </a:r>
          </a:p>
          <a:p>
            <a:r>
              <a:t>Target: 1:30</a:t>
            </a:r>
          </a:p>
          <a:p/>
          <a:p>
            <a:r>
              <a:t>Helm 3 accumulated technical debt and architectural limits. The project could continue adding compatible features, but some improvements required changes to public SDK APIs and package structure. A major version provided a clear boundary for those changes. The point is not to fault Helm 3; its compatibility rules did their job for a very broad user base.</a:t>
            </a:r>
          </a:p>
          <a:p/>
          <a:p>
            <a:r>
              <a:t>Sources:</a:t>
            </a:r>
          </a:p>
          <a:p>
            <a:r>
              <a:t>- https://helm.sh/blog/helm-v3-end-of-life/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your investment stays</a:t>
            </a:r>
          </a:p>
          <a:p>
            <a:r>
              <a:t>Target: 1:30</a:t>
            </a:r>
          </a:p>
          <a:p/>
          <a:p>
            <a:r>
              <a:t>Most teams can adopt Helm 4 without a chart rewrite or release migration. Existing Helm 3 charts should deploy with Helm 4, and existing Helm 3 releases can generally be upgraded by Helm 4. State the qualification: test your actual workflows, because plugins, post-renderers, authentication, and SDK consumers may need attention.</a:t>
            </a:r>
          </a:p>
          <a:p/>
          <a:p>
            <a:r>
              <a:t>Sources:</a:t>
            </a:r>
          </a:p>
          <a:p>
            <a:r>
              <a:t>- https://helm.sh/blog/helm-v3-end-of-life/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Helm 3 support clock</a:t>
            </a:r>
          </a:p>
          <a:p>
            <a:r>
              <a:t>Target: 1:30</a:t>
            </a:r>
          </a:p>
          <a:p/>
          <a:p>
            <a:r>
              <a:t>The timeline changed after the original Helm 4 announcement. Helm 4.0 shipped in November 2025. Helm 3 had a final limited minor on September 9, 2026. Security fixes end on February 10, 2027. After that, no Helm 3 security patches or Kubernetes client updates are expected. Encourage the audience to use the support window deliberately.</a:t>
            </a:r>
          </a:p>
          <a:p/>
          <a:p>
            <a:r>
              <a:t>Sources:</a:t>
            </a:r>
          </a:p>
          <a:p>
            <a:r>
              <a:t>- https://helm.sh/blog/helm-v3-end-of-life/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changed in Helm 4?</a:t>
            </a:r>
          </a:p>
          <a:p>
            <a:r>
              <a:t>Target: 0:10</a:t>
            </a:r>
          </a:p>
          <a:p/>
          <a:p>
            <a:r>
              <a:t>Transition from motivation into the capabilities available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foundations for the next chapter</a:t>
            </a:r>
          </a:p>
          <a:p>
            <a:r>
              <a:t>Target: 1:00</a:t>
            </a:r>
          </a:p>
          <a:p/>
          <a:p>
            <a:r>
              <a:t>Preview the next section. Extensibility, operations, distribution, and internal architecture are the four themes. The examples on the next slides are representative changes, not an exhaustive changelog.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Plugins have a clearer shape</a:t>
            </a:r>
          </a:p>
          <a:p>
            <a:r>
              <a:t>Target: 2:00</a:t>
            </a:r>
          </a:p>
          <a:p/>
          <a:p>
            <a:r>
              <a:t>Helm 4 has three explicit plugin types: CLI, getter, and post-renderer. The redesigned system allows future extension types, and an optional WebAssembly runtime provides a more controlled execution environment. Existing Helm 3 plugins continue to work. Plugin maintainers can adopt the versioned plugin schema over time.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  <a:p>
            <a:r>
              <a:t>- https://helm.sh/docs/plugins/overview/</a:t>
            </a:r>
          </a:p>
          <a:p>
            <a:r>
              <a:t>- https://helm.sh/docs/plugins/migrate/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integration does change</a:t>
            </a:r>
          </a:p>
          <a:p>
            <a:r>
              <a:t>Target: 1:30</a:t>
            </a:r>
          </a:p>
          <a:p/>
          <a:p>
            <a:r>
              <a:t>In Helm 3, --post-renderer accepts an executable path. In Helm 4 it accepts a plugin name. Workflows that pass a path need to package that executable as a postrenderer/v1 plugin and invoke the name. Ask the audience to search their CI and deployment scripts for this flag.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  <a:p>
            <a:r>
              <a:t>- https://helm.sh/docs/plugins/migrate/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behavior remembers the release</a:t>
            </a:r>
          </a:p>
          <a:p>
            <a:r>
              <a:t>Target: 2:00</a:t>
            </a:r>
          </a:p>
          <a:p/>
          <a:p>
            <a:r>
              <a:t>New Helm 4 installs use server-side apply by default. When Helm 4 upgrades or rolls back an existing Helm 3 release, it keeps that release on client-side apply by default. This latching behavior reduces surprises during a migration. Teams can override explicitly with --server-side. Test workloads where controllers and other tools touch the same Kubernetes objects.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Better signals while you wait</a:t>
            </a:r>
          </a:p>
          <a:p>
            <a:r>
              <a:t>Target: 1:30</a:t>
            </a:r>
          </a:p>
          <a:p/>
          <a:p>
            <a:r>
              <a:t>Helm 4 integrates kstatus for resource watching. The goal is more informative waiting and deployment status for complex applications. Invite users to test multi-resource workloads and report cases where the status is inaccurate or hard to interpret.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 the chart you meant to install</a:t>
            </a:r>
          </a:p>
          <a:p>
            <a:r>
              <a:t>Target: 1:40</a:t>
            </a:r>
          </a:p>
          <a:p/>
          <a:p>
            <a:r>
              <a:t>Helm 4 supports installing OCI charts by digest. That lets a deployment request an exact artifact and reject a mismatch. The release also adds content-based chart caching and reproducible archive builds. These are useful supply-chain building blocks, though they do not alone solve every provenance or policy problem.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  <a:p>
            <a:r>
              <a:t>- https://helm.sh/blog/helm-4-released/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changes you will notice</a:t>
            </a:r>
          </a:p>
          <a:p>
            <a:r>
              <a:t>Target: 1:30</a:t>
            </a:r>
          </a:p>
          <a:p/>
          <a:p>
            <a:r>
              <a:t>Multi-document values make it easier to organize configuration. Errors are clearer. Two common flags have clearer names: --atomic becomes --rollback-on-failure, and --force becomes --force-replace. The old names still work in Helm 4 but warn, so update scripts intentionally.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foundation for the next chart format</a:t>
            </a:r>
          </a:p>
          <a:p>
            <a:r>
              <a:t>Target: 1:30</a:t>
            </a:r>
          </a:p>
          <a:p/>
          <a:p>
            <a:r>
              <a:t>Helm 4 restructures its SDK APIs and supports multiple chart API versions. Charts v3 is early and experimental. Chart API v2 continues to work, so moving to Helm 4 does not mean migrating charts to v3. Developers can test the experiment and share what capabilities a future chart format should provide.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we move forward?</a:t>
            </a:r>
          </a:p>
          <a:p>
            <a:r>
              <a:t>Target: 0:10</a:t>
            </a:r>
          </a:p>
          <a:p/>
          <a:p>
            <a:r>
              <a:t>Transition into migration steps and community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Upgrade in five deliberate steps</a:t>
            </a:r>
          </a:p>
          <a:p>
            <a:r>
              <a:t>Target: 2:00</a:t>
            </a:r>
          </a:p>
          <a:p/>
          <a:p>
            <a:r>
              <a:t>The Helm migration checklist is straightforward: test representative charts and existing releases; run the exact commands in CI and deployment automation; inspect plugins and especially path-based post-renderers; verify OCI authentication and installs; then roll out the Helm 4 binary. The best migration pilot uses a real application rather than a toy chart.</a:t>
            </a:r>
          </a:p>
          <a:p/>
          <a:p>
            <a:r>
              <a:t>Sources:</a:t>
            </a:r>
          </a:p>
          <a:p>
            <a:r>
              <a:t>- https://helm.sh/blog/helm-v3-end-of-life/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first upgrade boring</a:t>
            </a:r>
          </a:p>
          <a:p>
            <a:r>
              <a:t>Target: 2:00</a:t>
            </a:r>
          </a:p>
          <a:p/>
          <a:p>
            <a:r>
              <a:t>A sample runbook: inventory releases; lint and render a representative chart; install a canary in a test namespace; inspect its status; then exercise an actual upgrade of a Helm 3 release. Test a controlled failure and rollback path as well. Commands on this slide are illustrative and assume a namespace and credentials already exist.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  <a:p>
            <a:r>
              <a:t>- https://helm.sh/blog/helm-v3-end-of-life/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way in for you</a:t>
            </a:r>
          </a:p>
          <a:p>
            <a:r>
              <a:t>Target: 1:00</a:t>
            </a:r>
          </a:p>
          <a:p/>
          <a:p>
            <a:r>
              <a:t>Invite specific participation: test a workflow and report findings, join #helm-dev or the public development meeting, and contribute to a project matching your strengths. Documentation, tests, and support matter alongside Go code. Point everyone to helm.sh/community for current meeting details.</a:t>
            </a:r>
          </a:p>
          <a:p/>
          <a:p>
            <a:r>
              <a:t>Sources:</a:t>
            </a:r>
          </a:p>
          <a:p>
            <a:r>
              <a:t>- https://helm.sh/community/</a:t>
            </a:r>
          </a:p>
          <a:p>
            <a:r>
              <a:t>- https://helm.sh/community/communication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future is with Helm 4</a:t>
            </a:r>
          </a:p>
          <a:p>
            <a:r>
              <a:t>Target: 2:00</a:t>
            </a:r>
          </a:p>
          <a:p/>
          <a:p>
            <a:r>
              <a:t>Close on three takeaways. First, most charts and releases continue across the version boundary. Second, test the workflow around Helm, especially plugins, CI flags, and OCI authentication. Third, Helm 4 is a foundation and the community can shape what comes next. Invite questions.</a:t>
            </a:r>
          </a:p>
          <a:p/>
          <a:p>
            <a:r>
              <a:t>Sources:</a:t>
            </a:r>
          </a:p>
          <a:p>
            <a:r>
              <a:t>- https://helm.sh/blog/helm-v3-end-of-life/</a:t>
            </a:r>
          </a:p>
          <a:p>
            <a:r>
              <a:t>- https://helm.sh/docs/overview/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and further reading</a:t>
            </a:r>
          </a:p>
          <a:p>
            <a:r>
              <a:t>Target: 0:00</a:t>
            </a:r>
          </a:p>
          <a:p/>
          <a:p>
            <a:r>
              <a:t>Reference slide. Support timeline is based on the updated June 2026 announcement. Recheck release notes immediately before the event for any late changes.</a:t>
            </a:r>
          </a:p>
          <a:p/>
          <a:p>
            <a:r>
              <a:t>Sources:</a:t>
            </a:r>
          </a:p>
          <a:p>
            <a:r>
              <a:t>- https://helm.sh/docs/overview/</a:t>
            </a:r>
          </a:p>
          <a:p>
            <a:r>
              <a:t>- https://helm.sh/blog/helm-v3-end-of-life/</a:t>
            </a:r>
          </a:p>
          <a:p>
            <a:r>
              <a:t>- https://helm.sh/docs/plugins/migrate/</a:t>
            </a:r>
          </a:p>
          <a:p>
            <a:r>
              <a:t>- https://helm.sh/community/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lm_light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325880"/>
            <a:ext cx="8138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9768"/>
            <a:ext cx="749808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9344" y="63093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1689"/>
                </a:solidFill>
                <a:latin typeface="Space Mono"/>
              </a:defRPr>
            </a:pPr>
            <a:r>
              <a:t>KUBECON + CLOUDNATIVECON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581912"/>
            <a:ext cx="7498079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50843"/>
                </a:solidFill>
                <a:latin typeface="Space Mono"/>
              </a:defRPr>
            </a:pPr>
            <a:r>
              <a:t>Breaking up Is Hard,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50843"/>
                </a:solidFill>
                <a:latin typeface="Space Mono"/>
              </a:defRPr>
            </a:pPr>
            <a:r>
              <a:t>but the Future Is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50843"/>
                </a:solidFill>
                <a:latin typeface="Space Mono"/>
              </a:defRPr>
            </a:pPr>
            <a:r>
              <a:t>with Helm 4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4361688"/>
            <a:ext cx="1097280" cy="73152"/>
          </a:xfrm>
          <a:prstGeom prst="rect">
            <a:avLst/>
          </a:prstGeom>
          <a:solidFill>
            <a:srgbClr val="9529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681728"/>
            <a:ext cx="7498079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95297C"/>
                </a:solidFill>
                <a:latin typeface="Public Sans"/>
              </a:defRPr>
            </a:pPr>
            <a:r>
              <a:t>Matt Farina  •  Joe Julian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6153912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50843"/>
                </a:solidFill>
                <a:latin typeface="Public Sans"/>
              </a:defRPr>
            </a:pPr>
            <a:r>
              <a:t>Salt Lake City  ·  10 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Who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4690872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0F1689"/>
                </a:solidFill>
                <a:latin typeface="Public Sans"/>
              </a:defRPr>
            </a:pPr>
            <a:r>
              <a:t>Matt Farina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596896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96780"/>
                </a:solidFill>
                <a:latin typeface="Public Sans"/>
              </a:defRPr>
            </a:pPr>
            <a:r>
              <a:t>Helm maintainer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1865376"/>
            <a:ext cx="4572000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0F1689"/>
                </a:solidFill>
                <a:latin typeface="Public Sans"/>
              </a:defRPr>
            </a:pPr>
            <a:r>
              <a:t>Joe Julian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596896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96780"/>
                </a:solidFill>
                <a:latin typeface="Public Sans"/>
              </a:defRPr>
            </a:pPr>
            <a:r>
              <a:t>Helm maintainer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08192" y="1856231"/>
            <a:ext cx="0" cy="3209545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41832" y="5102352"/>
            <a:ext cx="102229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95297C"/>
                </a:solidFill>
                <a:latin typeface="Public Sans"/>
              </a:defRPr>
            </a:pPr>
            <a:r>
              <a:t>Helm is a community project. This is our view from inside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lm_light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38912" y="1508760"/>
            <a:ext cx="7955279" cy="3044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5297C"/>
                </a:solidFill>
                <a:latin typeface="Space Mono"/>
              </a:defRPr>
            </a:pPr>
            <a:r>
              <a:t>PART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276856"/>
            <a:ext cx="706831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What are we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breaking up with?</a:t>
            </a:r>
          </a:p>
        </p:txBody>
      </p:sp>
      <p:pic>
        <p:nvPicPr>
          <p:cNvPr id="6" name="Picture 5" descr="helm_cnc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512064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18520" y="634593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What Helm still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THE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61872"/>
            <a:ext cx="1046988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95297C"/>
                </a:solidFill>
                <a:latin typeface="Public Sans"/>
              </a:defRPr>
            </a:pPr>
            <a:r>
              <a:t>The package manager for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14016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054096"/>
            <a:ext cx="3072384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F1689"/>
                </a:solidFill>
                <a:latin typeface="Public Sans"/>
              </a:defRPr>
            </a:pPr>
            <a:r>
              <a:t>A versioned package of Kubernetes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414016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HELM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3054096"/>
            <a:ext cx="3072384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F1689"/>
                </a:solidFill>
                <a:latin typeface="Public Sans"/>
              </a:defRPr>
            </a:pPr>
            <a:r>
              <a:t>Installs and upgrades 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2414016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3054096"/>
            <a:ext cx="3072384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F1689"/>
                </a:solidFill>
                <a:latin typeface="Public Sans"/>
              </a:defRPr>
            </a:pPr>
            <a:r>
              <a:t>A tracked installation in a cluster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59936" y="3108960"/>
            <a:ext cx="283464" cy="0"/>
          </a:xfrm>
          <a:prstGeom prst="line">
            <a:avLst/>
          </a:prstGeom>
          <a:ln w="381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08392" y="3108960"/>
            <a:ext cx="283464" cy="0"/>
          </a:xfrm>
          <a:prstGeom prst="line">
            <a:avLst/>
          </a:prstGeom>
          <a:ln w="381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6968" y="5010912"/>
            <a:ext cx="10424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233"/>
                </a:solidFill>
                <a:latin typeface="Public Sans"/>
              </a:defRPr>
            </a:pPr>
            <a:r>
              <a:t>Create · share · install · upgrade · roll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696712"/>
            <a:ext cx="89611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780"/>
                </a:solidFill>
                <a:latin typeface="Space Mono"/>
              </a:defRPr>
            </a:pPr>
            <a:r>
              <a:t>helm.sh/docs/intro/introduction/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Developers rate Helm as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WHY HELM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37943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0F1689"/>
                </a:solidFill>
                <a:latin typeface="Space Mono"/>
              </a:defRPr>
            </a:pPr>
            <a:r>
              <a:t>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16352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233"/>
                </a:solidFill>
                <a:latin typeface="Public Sans"/>
              </a:defRPr>
            </a:pPr>
            <a:r>
              <a:t>Helm 3.0 released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93792" y="1627632"/>
            <a:ext cx="0" cy="3529584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87568" y="1746504"/>
            <a:ext cx="507492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95297C"/>
                </a:solidFill>
                <a:latin typeface="Space Mono"/>
              </a:defRPr>
            </a:pPr>
            <a:r>
              <a:t>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7568" y="2670048"/>
            <a:ext cx="523036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F1689"/>
                </a:solidFill>
                <a:latin typeface="Public Sans"/>
              </a:defRPr>
            </a:pPr>
            <a:r>
              <a:t>rated Helm maturity 4 or 5 stars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4005072"/>
            <a:ext cx="519379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2233"/>
                </a:solidFill>
                <a:latin typeface="Public Sans"/>
              </a:defRPr>
            </a:pPr>
            <a:r>
              <a:t>Maturity meant stability and reliability in the survey.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5084064"/>
            <a:ext cx="104241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96780"/>
                </a:solidFill>
                <a:latin typeface="Public Sans"/>
              </a:defRPr>
            </a:pPr>
            <a:r>
              <a:t>CNCF Q1 2026 Technology Radar · developers familiar with Helm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The cost of that compatibility promise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WHY HELM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494690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F1689"/>
                </a:solidFill>
                <a:latin typeface="Public Sans"/>
              </a:defRPr>
            </a:pPr>
            <a:r>
              <a:t>Public SDK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871216"/>
            <a:ext cx="494690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F1689"/>
                </a:solidFill>
                <a:latin typeface="Public Sans"/>
              </a:defRPr>
            </a:pPr>
            <a:r>
              <a:t>Architectural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895344"/>
            <a:ext cx="494690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F1689"/>
                </a:solidFill>
                <a:latin typeface="Public Sans"/>
              </a:defRPr>
            </a:pPr>
            <a:r>
              <a:t>Accumulated debt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1728216"/>
            <a:ext cx="0" cy="3529584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28232" y="1911095"/>
            <a:ext cx="4800600" cy="250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95297C"/>
                </a:solidFill>
                <a:latin typeface="Public Sans"/>
              </a:defRPr>
            </a:pPr>
            <a:r>
              <a:t>A major version makes room to change the interfaces that held new capabilities 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Most of your investment stays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COMPATIBILITY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47672"/>
            <a:ext cx="44622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Space Mono"/>
              </a:defRPr>
            </a:pPr>
            <a:r>
              <a:t>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79192"/>
            <a:ext cx="493776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50843"/>
                </a:solidFill>
                <a:latin typeface="Public Sans"/>
              </a:defRPr>
            </a:pPr>
            <a:r>
              <a:t>Chart API v2 remains supported.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47672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Space Mono"/>
              </a:defRPr>
            </a:pPr>
            <a:r>
              <a:t>RELEASES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79192"/>
            <a:ext cx="484632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50843"/>
                </a:solidFill>
                <a:latin typeface="Public Sans"/>
              </a:defRPr>
            </a:pPr>
            <a:r>
              <a:t>Helm 4 can manage Helm 3 releases.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71616" y="1847088"/>
            <a:ext cx="0" cy="2542032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60704" y="4965192"/>
            <a:ext cx="10113264" cy="685800"/>
          </a:xfrm>
          <a:prstGeom prst="roundRect">
            <a:avLst>
              <a:gd name="adj" fmla="val 8000"/>
            </a:avLst>
          </a:prstGeom>
          <a:solidFill>
            <a:srgbClr val="EC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7592" y="5111496"/>
            <a:ext cx="962863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Public Sans"/>
              </a:defRPr>
            </a:pPr>
            <a:r>
              <a:t>Start with a new binary and a representative test environment.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The Helm 3 support clock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COMPATIBILITY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69848" y="3922776"/>
            <a:ext cx="9976104" cy="0"/>
          </a:xfrm>
          <a:prstGeom prst="line">
            <a:avLst/>
          </a:prstGeom>
          <a:ln w="50800">
            <a:solidFill>
              <a:srgbClr val="0F16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1560" y="3739896"/>
            <a:ext cx="365760" cy="365760"/>
          </a:xfrm>
          <a:prstGeom prst="ellipse">
            <a:avLst/>
          </a:prstGeom>
          <a:solidFill>
            <a:srgbClr val="1B5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2267712"/>
            <a:ext cx="205740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B53C2"/>
                </a:solidFill>
                <a:latin typeface="Space Mono"/>
              </a:defRPr>
            </a:pPr>
            <a:r>
              <a:t>Nov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2779776"/>
            <a:ext cx="246888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233"/>
                </a:solidFill>
                <a:latin typeface="Public Sans"/>
              </a:defRPr>
            </a:pPr>
            <a:r>
              <a:t>Helm 4 released</a:t>
            </a:r>
          </a:p>
        </p:txBody>
      </p:sp>
      <p:sp>
        <p:nvSpPr>
          <p:cNvPr id="11" name="Oval 10"/>
          <p:cNvSpPr/>
          <p:nvPr/>
        </p:nvSpPr>
        <p:spPr>
          <a:xfrm>
            <a:off x="5449824" y="3739896"/>
            <a:ext cx="365760" cy="365760"/>
          </a:xfrm>
          <a:prstGeom prst="ellipse">
            <a:avLst/>
          </a:prstGeom>
          <a:solidFill>
            <a:srgbClr val="9529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67712"/>
            <a:ext cx="205740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95297C"/>
                </a:solidFill>
                <a:latin typeface="Space Mono"/>
              </a:defRPr>
            </a:pPr>
            <a:r>
              <a:t>9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2779776"/>
            <a:ext cx="246888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233"/>
                </a:solidFill>
                <a:latin typeface="Public Sans"/>
              </a:defRPr>
            </a:pPr>
            <a:r>
              <a:t>Final limited Helm 3 minor</a:t>
            </a:r>
          </a:p>
        </p:txBody>
      </p:sp>
      <p:sp>
        <p:nvSpPr>
          <p:cNvPr id="14" name="Oval 13"/>
          <p:cNvSpPr/>
          <p:nvPr/>
        </p:nvSpPr>
        <p:spPr>
          <a:xfrm>
            <a:off x="10497312" y="3739896"/>
            <a:ext cx="365760" cy="365760"/>
          </a:xfrm>
          <a:prstGeom prst="ellipse">
            <a:avLst/>
          </a:prstGeom>
          <a:solidFill>
            <a:srgbClr val="050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0928" y="2267712"/>
            <a:ext cx="205740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50843"/>
                </a:solidFill>
                <a:latin typeface="Space Mono"/>
              </a:defRPr>
            </a:pPr>
            <a:r>
              <a:t>10 Feb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1472" y="2779776"/>
            <a:ext cx="246888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233"/>
                </a:solidFill>
                <a:latin typeface="Public Sans"/>
              </a:defRPr>
            </a:pPr>
            <a:r>
              <a:t>Helm 3 security fixes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5001768"/>
            <a:ext cx="102870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95297C"/>
                </a:solidFill>
                <a:latin typeface="Public Sans"/>
              </a:defRPr>
            </a:pPr>
            <a:r>
              <a:t>Use the remaining support window to test and roll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lm_light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38912" y="1508760"/>
            <a:ext cx="7955279" cy="3044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5297C"/>
                </a:solidFill>
                <a:latin typeface="Space Mono"/>
              </a:defRPr>
            </a:pPr>
            <a: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276856"/>
            <a:ext cx="706831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What changed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in Helm 4?</a:t>
            </a:r>
          </a:p>
        </p:txBody>
      </p:sp>
      <p:pic>
        <p:nvPicPr>
          <p:cNvPr id="6" name="Picture 5" descr="helm_cnc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512064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18520" y="634593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Four foundations for the next chapter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HELM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1645920"/>
            <a:ext cx="6858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Space Mono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5" y="1609344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F1689"/>
                </a:solidFill>
                <a:latin typeface="Public Sans"/>
              </a:defRPr>
            </a:pPr>
            <a:r>
              <a:t>Extend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5" y="2249424"/>
            <a:ext cx="4069080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Typed plugins and an optional Wasm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1645920"/>
            <a:ext cx="6858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Space Mono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3" y="1609344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F1689"/>
                </a:solidFill>
                <a:latin typeface="Public Sans"/>
              </a:defRPr>
            </a:pPr>
            <a:r>
              <a:t>Operate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87183" y="2249424"/>
            <a:ext cx="4069080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Apply semantics and status watching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739896"/>
            <a:ext cx="6858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Space Mono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5" y="370332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F1689"/>
                </a:solidFill>
                <a:latin typeface="Public Sans"/>
              </a:defRPr>
            </a:pPr>
            <a:r>
              <a:t>Distribute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2495" y="4343400"/>
            <a:ext cx="4069080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OCI digests and repeatable packages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739896"/>
            <a:ext cx="6858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Space Mono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3" y="370332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F1689"/>
                </a:solidFill>
                <a:latin typeface="Public Sans"/>
              </a:defRPr>
            </a:pPr>
            <a:r>
              <a:t>Evolve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7183" y="4343400"/>
            <a:ext cx="4069080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A versioned SDK and the Charts v3 path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1032" y="1737360"/>
            <a:ext cx="0" cy="3685032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Plugins have a clearer shape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EXTENSIBILITY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65376"/>
            <a:ext cx="60350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87752"/>
            <a:ext cx="326440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401568"/>
            <a:ext cx="31363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Add a Helm subcommand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865376"/>
            <a:ext cx="60350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587752"/>
            <a:ext cx="326440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Getter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3401568"/>
            <a:ext cx="31363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Fetch charts from additional locations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1865376"/>
            <a:ext cx="60350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3296" y="2587752"/>
            <a:ext cx="326440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Post-renderer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3401568"/>
            <a:ext cx="31363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Transform rendered manifests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15384" y="1865376"/>
            <a:ext cx="0" cy="3017520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54696" y="1865376"/>
            <a:ext cx="0" cy="3017520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50976" y="5212080"/>
            <a:ext cx="1030528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95297C"/>
                </a:solidFill>
                <a:latin typeface="Public Sans"/>
              </a:defRPr>
            </a:pPr>
            <a:r>
              <a:t>Optional Wasm runtime. Existing plugins continue to 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One integration does 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EXTENSIBILITY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1682496"/>
            <a:ext cx="3840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780"/>
                </a:solidFill>
                <a:latin typeface="Space Mono"/>
              </a:defRPr>
            </a:pPr>
            <a:r>
              <a:t>HELM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2194560"/>
            <a:ext cx="4828032" cy="1234440"/>
          </a:xfrm>
          <a:prstGeom prst="roundRect">
            <a:avLst>
              <a:gd name="adj" fmla="val 8000"/>
            </a:avLst>
          </a:prstGeom>
          <a:solidFill>
            <a:srgbClr val="EC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432304"/>
            <a:ext cx="4398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50843"/>
                </a:solidFill>
                <a:latin typeface="Space Mono"/>
              </a:defRPr>
            </a:pPr>
            <a:r>
              <a:t>--post-renderer ./tool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82496"/>
            <a:ext cx="3840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95297C"/>
                </a:solidFill>
                <a:latin typeface="Space Mono"/>
              </a:defRPr>
            </a:pPr>
            <a:r>
              <a:t>HELM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91656" y="2194560"/>
            <a:ext cx="4828032" cy="1234440"/>
          </a:xfrm>
          <a:prstGeom prst="roundRect">
            <a:avLst>
              <a:gd name="adj" fmla="val 8000"/>
            </a:avLst>
          </a:prstGeom>
          <a:solidFill>
            <a:srgbClr val="EC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432304"/>
            <a:ext cx="4398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50843"/>
                </a:solidFill>
                <a:latin typeface="Space Mono"/>
              </a:defRPr>
            </a:pPr>
            <a:r>
              <a:t>--post-renderer my-plugin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0" y="2807208"/>
            <a:ext cx="502920" cy="0"/>
          </a:xfrm>
          <a:prstGeom prst="line">
            <a:avLst/>
          </a:prstGeom>
          <a:ln w="38100">
            <a:solidFill>
              <a:srgbClr val="9529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32688" y="4288536"/>
            <a:ext cx="1019556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Package that executable as a postrenderer/v1 plugin.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Apply behavior remembers the release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10512"/>
            <a:ext cx="511149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New Helm 4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87752"/>
            <a:ext cx="5010912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95297C"/>
                </a:solidFill>
                <a:latin typeface="Public Sans"/>
              </a:defRPr>
            </a:pPr>
            <a:r>
              <a:t>Server-side apply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95297C"/>
                </a:solidFill>
                <a:latin typeface="Public Sans"/>
              </a:defRPr>
            </a:pPr>
            <a:r>
              <a:t>by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1810512"/>
            <a:ext cx="490118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Existing Helm 3 release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587752"/>
            <a:ext cx="480060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B53C2"/>
                </a:solidFill>
                <a:latin typeface="Public Sans"/>
              </a:defRPr>
            </a:pPr>
            <a:r>
              <a:t>Keeps client-side apply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B53C2"/>
                </a:solidFill>
                <a:latin typeface="Public Sans"/>
              </a:defRPr>
            </a:pPr>
            <a:r>
              <a:t>on upgrade / rollback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0" y="1755648"/>
            <a:ext cx="0" cy="2743200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70432" y="4910328"/>
            <a:ext cx="9857232" cy="704088"/>
          </a:xfrm>
          <a:prstGeom prst="roundRect">
            <a:avLst>
              <a:gd name="adj" fmla="val 8000"/>
            </a:avLst>
          </a:prstGeom>
          <a:solidFill>
            <a:srgbClr val="EC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5608" y="5065776"/>
            <a:ext cx="93268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50843"/>
                </a:solidFill>
                <a:latin typeface="Public Sans"/>
              </a:defRPr>
            </a:pPr>
            <a:r>
              <a:t>Override explicitly with --server-side when you choose.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Better signals while you wait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14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478024"/>
            <a:ext cx="566928" cy="566928"/>
          </a:xfrm>
          <a:prstGeom prst="ellipse">
            <a:avLst/>
          </a:prstGeom>
          <a:solidFill>
            <a:srgbClr val="0F1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51176"/>
            <a:ext cx="32918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pace Mon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10128"/>
            <a:ext cx="30815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F1689"/>
                </a:solidFill>
                <a:latin typeface="Public Sans"/>
              </a:defRPr>
            </a:pPr>
            <a: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913632"/>
            <a:ext cx="313639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Create or update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478024"/>
            <a:ext cx="566928" cy="566928"/>
          </a:xfrm>
          <a:prstGeom prst="ellipse">
            <a:avLst/>
          </a:prstGeom>
          <a:solidFill>
            <a:srgbClr val="0F1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551176"/>
            <a:ext cx="32918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pace Mono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310128"/>
            <a:ext cx="30815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F1689"/>
                </a:solidFill>
                <a:latin typeface="Public Sans"/>
              </a:defRPr>
            </a:pPr>
            <a:r>
              <a:t>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13632"/>
            <a:ext cx="313639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kstatus watches</a:t>
            </a:r>
          </a:p>
        </p:txBody>
      </p:sp>
      <p:sp>
        <p:nvSpPr>
          <p:cNvPr id="15" name="Oval 14"/>
          <p:cNvSpPr/>
          <p:nvPr/>
        </p:nvSpPr>
        <p:spPr>
          <a:xfrm>
            <a:off x="8193023" y="2478024"/>
            <a:ext cx="566928" cy="566928"/>
          </a:xfrm>
          <a:prstGeom prst="ellipse">
            <a:avLst/>
          </a:prstGeom>
          <a:solidFill>
            <a:srgbClr val="0F1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551176"/>
            <a:ext cx="32918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pace Mono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3310128"/>
            <a:ext cx="30815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F1689"/>
                </a:solidFill>
                <a:latin typeface="Public Sans"/>
              </a:defRPr>
            </a:pPr>
            <a:r>
              <a:t>Decide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913632"/>
            <a:ext cx="313639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Report status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86200" y="2770632"/>
            <a:ext cx="438912" cy="0"/>
          </a:xfrm>
          <a:prstGeom prst="line">
            <a:avLst/>
          </a:prstGeom>
          <a:ln w="38100">
            <a:solidFill>
              <a:srgbClr val="9529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07224" y="2770632"/>
            <a:ext cx="438912" cy="0"/>
          </a:xfrm>
          <a:prstGeom prst="line">
            <a:avLst/>
          </a:prstGeom>
          <a:ln w="38100">
            <a:solidFill>
              <a:srgbClr val="9529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5129784"/>
            <a:ext cx="1039672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95297C"/>
                </a:solidFill>
                <a:latin typeface="Public Sans"/>
              </a:defRPr>
            </a:pPr>
            <a:r>
              <a:t>Try complex, multi-resource rollouts and tell us what is confusing.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Pin the chart you meant to install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020824"/>
            <a:ext cx="1036015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50843"/>
                </a:solidFill>
                <a:latin typeface="Space Mono"/>
              </a:defRPr>
            </a:pPr>
            <a:r>
              <a:t>oci://registry.example.com/charts/app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871216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95297C"/>
                </a:solidFill>
                <a:latin typeface="Space Mono"/>
              </a:defRPr>
            </a:pPr>
            <a:r>
              <a:t>@sha256:abc123…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23544" y="3831336"/>
            <a:ext cx="10213848" cy="0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6112" y="4233672"/>
            <a:ext cx="10222992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F1689"/>
                </a:solidFill>
                <a:latin typeface="Public Sans"/>
              </a:defRPr>
            </a:pPr>
            <a:r>
              <a:t>Digest-based installs verify the exact OCI artifact.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5047488"/>
            <a:ext cx="1021384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96780"/>
                </a:solidFill>
                <a:latin typeface="Public Sans"/>
              </a:defRPr>
            </a:pPr>
            <a:r>
              <a:t>Content-based caching and reproducible chart archives improve repeatability.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Small changes you will notice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EVERYDAY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865376"/>
            <a:ext cx="5038344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F1689"/>
                </a:solidFill>
                <a:latin typeface="Public Sans"/>
              </a:defRPr>
            </a:pPr>
            <a:r>
              <a:t>Multi-document 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96312"/>
            <a:ext cx="484632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Split values across YAML documents.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65376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F1689"/>
                </a:solidFill>
                <a:latin typeface="Public Sans"/>
              </a:defRPr>
            </a:pPr>
            <a:r>
              <a:t>Clearer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496312"/>
            <a:ext cx="4773168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More actionable failures.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1783080"/>
            <a:ext cx="0" cy="1627632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" y="3739896"/>
            <a:ext cx="10405872" cy="0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1832" y="4233672"/>
            <a:ext cx="31363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96780"/>
                </a:solidFill>
                <a:latin typeface="Space Mono"/>
              </a:defRPr>
            </a:pPr>
            <a:r>
              <a:t>--atomic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4187952"/>
            <a:ext cx="61264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95297C"/>
                </a:solidFill>
                <a:latin typeface="Public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4233672"/>
            <a:ext cx="632764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Space Mono"/>
              </a:defRPr>
            </a:pPr>
            <a:r>
              <a:t>--rollback-on-failure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001768"/>
            <a:ext cx="31363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96780"/>
                </a:solidFill>
                <a:latin typeface="Space Mono"/>
              </a:defRPr>
            </a:pPr>
            <a:r>
              <a:t>--force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5072" y="4956048"/>
            <a:ext cx="61264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95297C"/>
                </a:solidFill>
                <a:latin typeface="Public Sans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5001768"/>
            <a:ext cx="632764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Space Mono"/>
              </a:defRPr>
            </a:pPr>
            <a:r>
              <a:t>--force-replace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A foundation for the next chart format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38528"/>
            <a:ext cx="431596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F1689"/>
                </a:solidFill>
                <a:latin typeface="Space Mono"/>
              </a:defRPr>
            </a:pPr>
            <a:r>
              <a:t>Charts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60904"/>
            <a:ext cx="431596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233"/>
                </a:solidFill>
                <a:latin typeface="Public Sans"/>
              </a:defRPr>
            </a:pPr>
            <a:r>
              <a:t>Supported today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19472" y="2779776"/>
            <a:ext cx="2002536" cy="0"/>
          </a:xfrm>
          <a:prstGeom prst="line">
            <a:avLst/>
          </a:prstGeom>
          <a:ln w="38100">
            <a:solidFill>
              <a:srgbClr val="9529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59168" y="1938528"/>
            <a:ext cx="431596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F1689"/>
                </a:solidFill>
                <a:latin typeface="Space Mono"/>
              </a:defRPr>
            </a:pPr>
            <a:r>
              <a:t>Charts 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7456" y="2660904"/>
            <a:ext cx="431596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95297C"/>
                </a:solidFill>
                <a:latin typeface="Public Sans"/>
              </a:defRPr>
            </a:pPr>
            <a:r>
              <a:t>Experimental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51376"/>
            <a:ext cx="10323576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50843"/>
                </a:solidFill>
                <a:latin typeface="Public Sans"/>
              </a:defRPr>
            </a:pPr>
            <a:r>
              <a:t>Versioned SDK APIs make this evolution possible.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038344"/>
            <a:ext cx="1034186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96780"/>
                </a:solidFill>
                <a:latin typeface="Public Sans"/>
              </a:defRPr>
            </a:pPr>
            <a:r>
              <a:t>This is a feedback opportunity, not an upgrade requirement.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lm_light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38912" y="1508760"/>
            <a:ext cx="7955279" cy="3044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5297C"/>
                </a:solidFill>
                <a:latin typeface="Space Mono"/>
              </a:defRPr>
            </a:pPr>
            <a:r>
              <a:t>PART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276856"/>
            <a:ext cx="706831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How do we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move forward?</a:t>
            </a:r>
          </a:p>
        </p:txBody>
      </p:sp>
      <p:pic>
        <p:nvPicPr>
          <p:cNvPr id="6" name="Picture 5" descr="helm_cnc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512064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18520" y="634593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Upgrade in five deliberate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1572768"/>
            <a:ext cx="676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5297C"/>
                </a:solidFill>
                <a:latin typeface="Space Mono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216" y="1536192"/>
            <a:ext cx="9244584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50843"/>
                </a:solidFill>
                <a:latin typeface="Public Sans"/>
              </a:defRPr>
            </a:pPr>
            <a:r>
              <a:t>Test representative charts and releases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28216" y="2148840"/>
            <a:ext cx="9381744" cy="0"/>
          </a:xfrm>
          <a:prstGeom prst="line">
            <a:avLst/>
          </a:prstGeom>
          <a:ln w="127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32104" y="2395728"/>
            <a:ext cx="676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5297C"/>
                </a:solidFill>
                <a:latin typeface="Space Mono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2359152"/>
            <a:ext cx="9244584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50843"/>
                </a:solidFill>
                <a:latin typeface="Public Sans"/>
              </a:defRPr>
            </a:pPr>
            <a:r>
              <a:t>Exercise your CI / CD commands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28216" y="2971800"/>
            <a:ext cx="9381744" cy="0"/>
          </a:xfrm>
          <a:prstGeom prst="line">
            <a:avLst/>
          </a:prstGeom>
          <a:ln w="127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32104" y="3218688"/>
            <a:ext cx="676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5297C"/>
                </a:solidFill>
                <a:latin typeface="Space Mono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3182112"/>
            <a:ext cx="9244584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50843"/>
                </a:solidFill>
                <a:latin typeface="Public Sans"/>
              </a:defRPr>
            </a:pPr>
            <a:r>
              <a:t>Check plugins and post-renderers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28216" y="3794760"/>
            <a:ext cx="9381744" cy="0"/>
          </a:xfrm>
          <a:prstGeom prst="line">
            <a:avLst/>
          </a:prstGeom>
          <a:ln w="127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2104" y="4041648"/>
            <a:ext cx="676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5297C"/>
                </a:solidFill>
                <a:latin typeface="Space Mono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4005072"/>
            <a:ext cx="9244584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50843"/>
                </a:solidFill>
                <a:latin typeface="Public Sans"/>
              </a:defRPr>
            </a:pPr>
            <a:r>
              <a:t>Verify registry login and OCI installs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28216" y="4617720"/>
            <a:ext cx="9381744" cy="0"/>
          </a:xfrm>
          <a:prstGeom prst="line">
            <a:avLst/>
          </a:prstGeom>
          <a:ln w="127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32104" y="4864608"/>
            <a:ext cx="676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5297C"/>
                </a:solidFill>
                <a:latin typeface="Space Mono"/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8216" y="4828032"/>
            <a:ext cx="9244584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50843"/>
                </a:solidFill>
                <a:latin typeface="Public Sans"/>
              </a:defRPr>
            </a:pPr>
            <a:r>
              <a:t>Roll out the Helm 4 binary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Make the first upgrade boring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72768"/>
            <a:ext cx="19659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95297C"/>
                </a:solidFill>
                <a:latin typeface="Space Mono"/>
              </a:defRPr>
            </a:pPr>
            <a: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4952" y="1572768"/>
            <a:ext cx="8193024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50843"/>
                </a:solidFill>
                <a:latin typeface="Space Mono"/>
              </a:defRPr>
            </a:pPr>
            <a:r>
              <a:t>helm list -A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50008"/>
            <a:ext cx="19659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95297C"/>
                </a:solidFill>
                <a:latin typeface="Space Mono"/>
              </a:defRPr>
            </a:pPr>
            <a:r>
              <a:t>VALIDATE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2350008"/>
            <a:ext cx="8193024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50843"/>
                </a:solidFill>
                <a:latin typeface="Space Mono"/>
              </a:defRPr>
            </a:pPr>
            <a:r>
              <a:t>helm lint ./chart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127248"/>
            <a:ext cx="19659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95297C"/>
                </a:solidFill>
                <a:latin typeface="Space Mono"/>
              </a:defRPr>
            </a:pPr>
            <a:r>
              <a:t>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3127248"/>
            <a:ext cx="8193024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50843"/>
                </a:solidFill>
                <a:latin typeface="Space Mono"/>
              </a:defRPr>
            </a:pPr>
            <a:r>
              <a:t>helm template canary ./chart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904487"/>
            <a:ext cx="19659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95297C"/>
                </a:solidFill>
                <a:latin typeface="Space Mono"/>
              </a:defRPr>
            </a:pPr>
            <a:r>
              <a:t>CANARY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3904487"/>
            <a:ext cx="8193024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50843"/>
                </a:solidFill>
                <a:latin typeface="Space Mono"/>
              </a:defRPr>
            </a:pPr>
            <a:r>
              <a:t>helm upgrade --install canary ./chart -n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681728"/>
            <a:ext cx="19659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95297C"/>
                </a:solidFill>
                <a:latin typeface="Space Mono"/>
              </a:defRPr>
            </a:pPr>
            <a:r>
              <a:t>OBSERVE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4681728"/>
            <a:ext cx="8193024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50843"/>
                </a:solidFill>
                <a:latin typeface="Space Mono"/>
              </a:defRPr>
            </a:pPr>
            <a:r>
              <a:t>helm status canary -n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5678424"/>
            <a:ext cx="10241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96780"/>
                </a:solidFill>
                <a:latin typeface="Public Sans"/>
              </a:defRPr>
            </a:pPr>
            <a:r>
              <a:t>Then test an existing Helm 3 release, a failure, and a rollback.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There is a way in for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92807"/>
            <a:ext cx="612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51176"/>
            <a:ext cx="30815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F1689"/>
                </a:solidFill>
                <a:latin typeface="Public Sans"/>
              </a:defRPr>
            </a:pPr>
            <a:r>
              <a:t>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273552"/>
            <a:ext cx="31363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Test a Helm 4 workflow and share a precise reproduction.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9704" y="1892807"/>
            <a:ext cx="612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551176"/>
            <a:ext cx="30815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F1689"/>
                </a:solidFill>
                <a:latin typeface="Public Sans"/>
              </a:defRPr>
            </a:pPr>
            <a:r>
              <a:t>Talk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3273552"/>
            <a:ext cx="31363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Join #helm-dev or the public weekly meeting.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92807"/>
            <a:ext cx="612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5297C"/>
                </a:solidFill>
                <a:latin typeface="Space Mono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551176"/>
            <a:ext cx="30815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F1689"/>
                </a:solidFill>
                <a:latin typeface="Public Sans"/>
              </a:defRPr>
            </a:pPr>
            <a: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273552"/>
            <a:ext cx="31363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233"/>
                </a:solidFill>
                <a:latin typeface="Public Sans"/>
              </a:defRPr>
            </a:pPr>
            <a:r>
              <a:t>Open a docs change, issue, plugin, or project PR.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61104" y="1828800"/>
            <a:ext cx="0" cy="2980944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09560" y="1828800"/>
            <a:ext cx="0" cy="2980944"/>
          </a:xfrm>
          <a:prstGeom prst="line">
            <a:avLst/>
          </a:prstGeom>
          <a:ln w="25400">
            <a:solidFill>
              <a:srgbClr val="DBE1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50976" y="5266944"/>
            <a:ext cx="10287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95297C"/>
                </a:solidFill>
                <a:latin typeface="Space Mono"/>
              </a:defRPr>
            </a:pPr>
            <a:r>
              <a:t>helm.sh/community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lm_light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38912" y="1508760"/>
            <a:ext cx="7955279" cy="3044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5297C"/>
                </a:solidFill>
                <a:latin typeface="Space Mono"/>
              </a:defRPr>
            </a:pPr>
            <a:r>
              <a:t>TAKEAWAYS +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276856"/>
            <a:ext cx="706831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The future is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50843"/>
                </a:solidFill>
                <a:latin typeface="Space Mono"/>
              </a:defRPr>
            </a:pPr>
            <a:r>
              <a:t>with Helm 4</a:t>
            </a:r>
          </a:p>
        </p:txBody>
      </p:sp>
      <p:pic>
        <p:nvPicPr>
          <p:cNvPr id="6" name="Picture 5" descr="helm_cnc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512064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18520" y="634593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4736592"/>
            <a:ext cx="934516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64608"/>
            <a:ext cx="89428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Public Sans"/>
              </a:defRPr>
            </a:pPr>
            <a:r>
              <a:t>Keep the charts. Test the workflow. Join the project.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5733288"/>
            <a:ext cx="58521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95297C"/>
                </a:solidFill>
                <a:latin typeface="Space Mono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050843"/>
                </a:solidFill>
                <a:latin typeface="Public Sans"/>
              </a:defRPr>
            </a:pPr>
            <a:r>
              <a:t>Sources and further reading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6336792"/>
            <a:ext cx="10863072" cy="13716"/>
          </a:xfrm>
          <a:prstGeom prst="rect">
            <a:avLst/>
          </a:prstGeom>
          <a:solidFill>
            <a:srgbClr val="DBE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m_cncf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347472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63916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3916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96780"/>
                </a:solidFill>
                <a:latin typeface="Space Mono"/>
              </a:defRPr>
            </a:pPr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837943"/>
            <a:ext cx="47548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Public Sans"/>
              </a:defRPr>
            </a:pPr>
            <a:r>
              <a:t>Helm 4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31720"/>
            <a:ext cx="4782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780"/>
                </a:solidFill>
                <a:latin typeface="Space Mono"/>
              </a:defRPr>
            </a:pPr>
            <a:r>
              <a:t>helm.sh/docs/overview/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20439"/>
            <a:ext cx="47548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Public Sans"/>
              </a:defRPr>
            </a:pPr>
            <a:r>
              <a:t>Helm 3 end-of-life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014215"/>
            <a:ext cx="4782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780"/>
                </a:solidFill>
                <a:latin typeface="Space Mono"/>
              </a:defRPr>
            </a:pPr>
            <a:r>
              <a:t>helm.sh/blog/helm-v3-end-of-life/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837943"/>
            <a:ext cx="47548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Public Sans"/>
              </a:defRPr>
            </a:pPr>
            <a:r>
              <a:t>Plugin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2331720"/>
            <a:ext cx="4782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780"/>
                </a:solidFill>
                <a:latin typeface="Space Mono"/>
              </a:defRPr>
            </a:pPr>
            <a:r>
              <a:t>helm.sh/docs/plugins/migrate/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3520439"/>
            <a:ext cx="47548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F1689"/>
                </a:solidFill>
                <a:latin typeface="Public Sans"/>
              </a:defRPr>
            </a:pPr>
            <a:r>
              <a:t>Helm community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4014215"/>
            <a:ext cx="4782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780"/>
                </a:solidFill>
                <a:latin typeface="Space Mono"/>
              </a:defRPr>
            </a:pPr>
            <a:r>
              <a:t>helm.sh/community/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Breaking Up Is Hard, but the Future Is with Helm 4</dc:title>
  <dc:subject>KubeCon + CloudNativeCon North America 2026 talk draft</dc:subject>
  <dc:creator>Joe Julian</dc:creator>
  <cp:keywords/>
  <dc:description>generated using python-pptx</dc:description>
  <cp:lastModifiedBy>Joe Julian</cp:lastModifiedBy>
  <cp:revision>1</cp:revision>
  <dcterms:created xsi:type="dcterms:W3CDTF">2026-10-26T21:59:19Z</dcterms:created>
  <dcterms:modified xsi:type="dcterms:W3CDTF">2026-10-26T21:59:19Z</dcterms:modified>
  <cp:category/>
</cp:coreProperties>
</file>